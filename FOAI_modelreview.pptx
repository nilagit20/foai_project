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6" r:id="rId28"/>
    <p:sldId id="271" r:id="rId6"/>
    <p:sldId id="274" r:id="rId7"/>
    <p:sldId id="272" r:id="rId8"/>
    <p:sldId id="273" r:id="rId9"/>
    <p:sldId id="260" r:id="rId10"/>
    <p:sldId id="277" r:id="rId29"/>
    <p:sldId id="278" r:id="rId30"/>
    <p:sldId id="268" r:id="rId11"/>
    <p:sldId id="279" r:id="rId31"/>
    <p:sldId id="280" r:id="rId32"/>
    <p:sldId id="275" r:id="rId12"/>
    <p:sldId id="261" r:id="rId13"/>
    <p:sldId id="262" r:id="rId14"/>
    <p:sldId id="269" r:id="rId15"/>
    <p:sldId id="281" r:id="rId33"/>
    <p:sldId id="263" r:id="rId16"/>
    <p:sldId id="270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30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3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slide" Target="slides/slide18.xml"/><Relationship Id="rId15" Type="http://schemas.openxmlformats.org/officeDocument/2006/relationships/slide" Target="slides/slide19.xml"/><Relationship Id="rId16" Type="http://schemas.openxmlformats.org/officeDocument/2006/relationships/slide" Target="slides/slide21.xml"/><Relationship Id="rId17" Type="http://schemas.openxmlformats.org/officeDocument/2006/relationships/slide" Target="slides/slide22.xml"/><Relationship Id="rId18" Type="http://schemas.openxmlformats.org/officeDocument/2006/relationships/slide" Target="slides/slide23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6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5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Milestones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D9DEE6"/>
              </a:solidFill>
            </c:spPr>
          </c:dPt>
          <c:cat>
            <c:strRef>
              <c:f>Sheet1!$A$2:$A$3</c:f>
              <c:strCache>
                <c:ptCount val="2"/>
                <c:pt idx="0">
                  <c:v>Completed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Sheet1!$A$2:$A$6</c:f>
              <c:strCache>
                <c:ptCount val="5"/>
                <c:pt idx="0">
                  <c:v>Testing</c:v>
                </c:pt>
                <c:pt idx="1">
                  <c:v>M4 Dashboard</c:v>
                </c:pt>
                <c:pt idx="2">
                  <c:v>M3 Priority/Resp.</c:v>
                </c:pt>
                <c:pt idx="3">
                  <c:v>M2 AI analysis</c:v>
                </c:pt>
                <c:pt idx="4">
                  <c:v>M1 Backend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Pending</c:v>
                </c:pt>
              </c:strCache>
            </c:strRef>
          </c:tx>
          <c:spPr>
            <a:solidFill>
              <a:srgbClr val="C77700"/>
            </a:solidFill>
          </c:spPr>
          <c:cat>
            <c:strRef>
              <c:f>Sheet1!$A$2:$A$6</c:f>
              <c:strCache>
                <c:ptCount val="5"/>
                <c:pt idx="0">
                  <c:v>Testing</c:v>
                </c:pt>
                <c:pt idx="1">
                  <c:v>M4 Dashboard</c:v>
                </c:pt>
                <c:pt idx="2">
                  <c:v>M3 Priority/Resp.</c:v>
                </c:pt>
                <c:pt idx="3">
                  <c:v>M2 AI analysis</c:v>
                </c:pt>
                <c:pt idx="4">
                  <c:v>M1 Backend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numFmt formatCode="0;-0;;@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5"/>
            </a:solidFill>
          </a:ln>
        </c:spPr>
        <c:txPr>
          <a:bodyPr/>
          <a:lstStyle/>
          <a:p>
            <a:pPr>
              <a:defRPr sz="10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4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9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0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0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.png"/><Relationship Id="rId5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4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822960" y="987552"/>
            <a:ext cx="105613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200" b="1" i="0">
                <a:solidFill>
                  <a:srgbClr val="002060"/>
                </a:solidFill>
                <a:latin typeface="Calibri"/>
              </a:rPr>
              <a:t>Department of Computer Science and Engineering (Cyber Security)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417320"/>
            <a:ext cx="105613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  <a:latin typeface="Calibri"/>
              </a:rPr>
              <a:t>CS23533 - Foundations of Artificial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0512"/>
            <a:ext cx="105613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Calibri"/>
              </a:rPr>
              <a:t>2026-2027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105613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600" b="1" i="0">
                <a:solidFill>
                  <a:srgbClr val="692D91"/>
                </a:solidFill>
                <a:latin typeface="Calibri"/>
              </a:rPr>
              <a:t>AI-POWERED INCIDENT RESPONSE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10561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i="1">
                <a:solidFill>
                  <a:srgbClr val="5B6472"/>
                </a:solidFill>
                <a:latin typeface="Calibri"/>
              </a:rPr>
              <a:t>Rule-based expert system that classifies, prioritizes and recommends responses for cybersecurity incidents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767" y="3931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56919" y="3977639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itema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445" y="4068165"/>
            <a:ext cx="230428" cy="2304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32407" y="3931920"/>
            <a:ext cx="18745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Rule-based reasoning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35527" y="3931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608679" y="3977639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i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205" y="4068165"/>
            <a:ext cx="230428" cy="2304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84167" y="3931920"/>
            <a:ext cx="18745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Forward chaining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7287" y="3931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260439" y="3977639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o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965" y="4068165"/>
            <a:ext cx="230428" cy="2304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35927" y="3931920"/>
            <a:ext cx="18745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Heuristic prioritization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39047" y="39319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912199" y="3977639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alanc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2725" y="4068165"/>
            <a:ext cx="230428" cy="2304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87687" y="3931920"/>
            <a:ext cx="18745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Constraint-based response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84632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005840" y="507492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use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6716" y="5225796"/>
            <a:ext cx="384048" cy="3840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828800" y="4956048"/>
            <a:ext cx="310896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Calibri"/>
              </a:rPr>
              <a:t>Dr. P. Tamilselvi, Ph.D.</a:t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Professor &amp; Head of the Department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Dept. of CSE (Cyber Security)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484632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360920" y="5074920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ask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1796" y="5225796"/>
            <a:ext cx="384048" cy="3840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83879" y="4956048"/>
            <a:ext cx="310896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Team members</a:t>
            </a:r>
          </a:p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NILA ELA  (241901074)</a:t>
            </a:r>
          </a:p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SREEDHARSHINI M  (241901110)</a:t>
            </a:r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Problem Statement and Motivation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INCOMING ALERT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0120" y="2212848"/>
            <a:ext cx="603504" cy="6035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890" y="2345618"/>
            <a:ext cx="337962" cy="3379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2103120"/>
            <a:ext cx="24688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Brute force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Repeated login attempts against user and admin accounts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526280" y="2212848"/>
            <a:ext cx="603504" cy="6035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ad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050" y="2345618"/>
            <a:ext cx="337962" cy="3379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7800" y="2103120"/>
            <a:ext cx="24688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Port scanning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Probing hosts to discover open ports and exposed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0574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092440" y="2212848"/>
            <a:ext cx="603504" cy="6035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210" y="2345618"/>
            <a:ext cx="337962" cy="33796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23959" y="2103120"/>
            <a:ext cx="24688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Denial-of-service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Flooding a service until it can no longer answer real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54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WHY MANUAL HANDLING BREAKS 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56432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0120" y="3493008"/>
            <a:ext cx="9144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Calibri"/>
              </a:rPr>
              <a:t>01</a:t>
            </a:r>
          </a:p>
        </p:txBody>
      </p:sp>
      <p:sp>
        <p:nvSpPr>
          <p:cNvPr id="23" name="Oval 22"/>
          <p:cNvSpPr/>
          <p:nvPr/>
        </p:nvSpPr>
        <p:spPr>
          <a:xfrm>
            <a:off x="3566160" y="356616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6744" y="3666744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60120" y="3959352"/>
            <a:ext cx="31546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Alert overload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Every alert needs an analyst to read, classify and rank it before anyone acts.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456432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26280" y="3493008"/>
            <a:ext cx="9144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Calibri"/>
              </a:rPr>
              <a:t>02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0" y="356616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lo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2904" y="3666744"/>
            <a:ext cx="256032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26280" y="3959352"/>
            <a:ext cx="31546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Slow, inconsistent triage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Critical incidents wait in the same queue as low-risk noise; ranking depends on who is on shift.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3456432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92440" y="3493008"/>
            <a:ext cx="9144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Calibr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698480" y="3566160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uzz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9063" y="3666744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92440" y="3959352"/>
            <a:ext cx="31546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Fragmented tooling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Detection, incident records and response guidance live in separate tools and workflows.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07492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005840" y="5257800"/>
            <a:ext cx="594360" cy="5943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lag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599" y="5388559"/>
            <a:ext cx="332841" cy="33284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783080" y="5102352"/>
            <a:ext cx="94640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D7D7"/>
                </a:solidFill>
                <a:latin typeface="Calibri"/>
              </a:rPr>
              <a:t>Problem: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existing systems detect or record incidents but give limited prioritization and no explainable response guidance.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D7D7"/>
                </a:solidFill>
                <a:latin typeface="Calibri"/>
              </a:rPr>
              <a:t>Motivation: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one system that analyzes every incident, ranks it, and recommends a response with the rules that justify it.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Objectives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32688" y="1938528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408176" y="2240280"/>
            <a:ext cx="822960" cy="8229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227" y="2421331"/>
            <a:ext cx="460857" cy="4608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3154680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Centralize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20440"/>
            <a:ext cx="1773936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Collect, store and manage cybersecurity incident records in one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61772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Spring Boot + MySQL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3512" y="18288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063240" y="1938528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3538728" y="2240280"/>
            <a:ext cx="822960" cy="8229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itema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779" y="2421331"/>
            <a:ext cx="460857" cy="46085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44952" y="3154680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520440"/>
            <a:ext cx="1773936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Classify each incident from its facts using rule-based AI reasoning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90672" y="461772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Rules + forward chaining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4064" y="18288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193792" y="1938528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0" y="2240280"/>
            <a:ext cx="822960" cy="8229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o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0331" y="2421331"/>
            <a:ext cx="460857" cy="46085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75504" y="3154680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Prioritize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3520440"/>
            <a:ext cx="1773936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Determine severity and priority with heuristic evaluation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21224" y="461772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Heuristic scoring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14616" y="18288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324344" y="1938528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Oval 29"/>
          <p:cNvSpPr/>
          <p:nvPr/>
        </p:nvSpPr>
        <p:spPr>
          <a:xfrm>
            <a:off x="7799832" y="2240280"/>
            <a:ext cx="822960" cy="8229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alanc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0883" y="2421331"/>
            <a:ext cx="460857" cy="46085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06056" y="3154680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Recommend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344" y="3520440"/>
            <a:ext cx="1773936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Select response actions that satisfy the incident's conditions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51776" y="461772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Constraint satisfaction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45168" y="18288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454896" y="1938528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9930384" y="2240280"/>
            <a:ext cx="822960" cy="8229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dash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1435" y="2421331"/>
            <a:ext cx="460857" cy="46085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436608" y="3154680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Monitor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4896" y="3520440"/>
            <a:ext cx="1773936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Show incidents, priorities and AI recommendations on a web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82328" y="461772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Web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257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TARGET WORKFLOW (REPORT 2.3.1)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53212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Incident data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478024" y="5623560"/>
            <a:ext cx="228600" cy="27432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761488" y="553212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AI analysis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416551" y="5623560"/>
            <a:ext cx="228600" cy="27432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700016" y="55321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Threat classification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6903720" y="5623560"/>
            <a:ext cx="228600" cy="27432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187184" y="5532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Priority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8522208" y="5623560"/>
            <a:ext cx="228600" cy="27432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805672" y="553212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Response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Abstract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66751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6263640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Context.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Brute-force, port-scan and denial-of-service attacks generate more security alerts than analysts can triage by hand. Manual prioritization is slow, error-prone and tied to individual expertise.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Approach.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The AI-Powered Incident Response System combines a rule-based expert system, forward-chaining inference, heuristic evaluation and constraint-based response selection to classify each incident, assign a priority and recommend a response.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Architecture.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Incident input, preprocessing, AI analysis, incident evaluation and response output, served by a Spring Boot backend with MySQL and a planned web dashboard.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Status.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Database, incident entity, repository, service and controller layers and CRUD REST APIs are built and tested in Postman. The AI rule engine, prioritization, recommendation and dashboard come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10512"/>
            <a:ext cx="17373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0" y="1993392"/>
            <a:ext cx="173736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724912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Calibri"/>
              </a:rPr>
              <a:t>AI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044952"/>
            <a:ext cx="155448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rules, forward chaining, heuristics,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810512"/>
            <a:ext cx="17373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0" y="1993392"/>
            <a:ext cx="173736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600" b="1" i="0">
                <a:solidFill>
                  <a:srgbClr val="C00000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724912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Calibri"/>
              </a:rPr>
              <a:t>Attack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044952"/>
            <a:ext cx="155448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brute force, port scan, 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959352"/>
            <a:ext cx="17373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0" y="4142232"/>
            <a:ext cx="173736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600" b="1" i="0">
                <a:solidFill>
                  <a:srgbClr val="C00000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873752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Calibri"/>
              </a:rPr>
              <a:t>System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193792"/>
            <a:ext cx="155448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backend, analysis, prioritization,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959352"/>
            <a:ext cx="1737360" cy="20574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01200" y="4142232"/>
            <a:ext cx="173736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6/11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873752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Milestones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5193792"/>
            <a:ext cx="155448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D6DEF0"/>
                </a:solidFill>
                <a:latin typeface="Calibri"/>
              </a:rPr>
              <a:t>backend complete, AI layer next</a:t>
            </a:r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Scope, Security and SDG Alignment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333756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87552" y="1938528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2039112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36192" y="1938528"/>
            <a:ext cx="25603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Project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2560320"/>
            <a:ext cx="3017520" cy="384048"/>
          </a:xfrm>
          <a:prstGeom prst="roundRect">
            <a:avLst>
              <a:gd name="adj" fmla="val 3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042415" y="2615184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60320"/>
            <a:ext cx="25603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Incident collection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3035808"/>
            <a:ext cx="3017520" cy="384048"/>
          </a:xfrm>
          <a:prstGeom prst="roundRect">
            <a:avLst>
              <a:gd name="adj" fmla="val 3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042415" y="3090672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35808"/>
            <a:ext cx="25603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Preprocessing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3511296"/>
            <a:ext cx="3017520" cy="384048"/>
          </a:xfrm>
          <a:prstGeom prst="roundRect">
            <a:avLst>
              <a:gd name="adj" fmla="val 3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042415" y="3566160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11296"/>
            <a:ext cx="25603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3986783"/>
            <a:ext cx="3017520" cy="384048"/>
          </a:xfrm>
          <a:prstGeom prst="roundRect">
            <a:avLst>
              <a:gd name="adj" fmla="val 3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42415" y="4041647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986783"/>
            <a:ext cx="25603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Prioritization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" y="4462272"/>
            <a:ext cx="3017520" cy="384048"/>
          </a:xfrm>
          <a:prstGeom prst="roundRect">
            <a:avLst>
              <a:gd name="adj" fmla="val 3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042415" y="4517136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62272"/>
            <a:ext cx="25603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Response recommendation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" y="4937760"/>
            <a:ext cx="3017520" cy="384048"/>
          </a:xfrm>
          <a:prstGeom prst="roundRect">
            <a:avLst>
              <a:gd name="adj" fmla="val 3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042415" y="4992624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937760"/>
            <a:ext cx="25603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Database 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" y="5413248"/>
            <a:ext cx="3017520" cy="384048"/>
          </a:xfrm>
          <a:prstGeom prst="roundRect">
            <a:avLst>
              <a:gd name="adj" fmla="val 3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042415" y="5468112"/>
            <a:ext cx="274320" cy="2743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413248"/>
            <a:ext cx="25603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Dashboard monitoring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1810512"/>
            <a:ext cx="361188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07992" y="193852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2039112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56632" y="1938528"/>
            <a:ext cx="28346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Security requirements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2560320"/>
            <a:ext cx="3337560" cy="3383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Secure incident data management</a:t>
            </a:r>
          </a:p>
          <a:p>
            <a:pPr marL="228600" indent="-228600">
              <a:spcAft>
                <a:spcPts val="6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Controlled access to incident information</a:t>
            </a:r>
          </a:p>
          <a:p>
            <a:pPr marL="228600" indent="-228600">
              <a:spcAft>
                <a:spcPts val="6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Secure database integration</a:t>
            </a:r>
          </a:p>
          <a:p>
            <a:pPr marL="228600" indent="-228600">
              <a:spcAft>
                <a:spcPts val="6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Reliable incident classification</a:t>
            </a:r>
          </a:p>
          <a:p>
            <a:pPr marL="228600" indent="-228600">
              <a:spcAft>
                <a:spcPts val="6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No unauthorized modification of incident records</a:t>
            </a:r>
          </a:p>
          <a:p>
            <a:pPr marL="228600" indent="-228600">
              <a:spcAft>
                <a:spcPts val="6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Secure communication between components</a:t>
            </a:r>
          </a:p>
          <a:p>
            <a:pPr marL="228600" indent="-228600">
              <a:spcAft>
                <a:spcPts val="6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Accurate prioritization of critical incidents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1810512"/>
            <a:ext cx="324612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8302752" y="1965960"/>
            <a:ext cx="960120" cy="960120"/>
          </a:xfrm>
          <a:prstGeom prst="roundRect">
            <a:avLst>
              <a:gd name="adj" fmla="val 10000"/>
            </a:avLst>
          </a:prstGeom>
          <a:solidFill>
            <a:srgbClr val="F36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1965960"/>
            <a:ext cx="1965960" cy="960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F36D25"/>
                </a:solidFill>
                <a:latin typeface="Calibri"/>
              </a:rPr>
              <a:t>SDG 9</a:t>
            </a:r>
          </a:p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Industry, Innovation and 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063240"/>
            <a:ext cx="29718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Target 9.1 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Reliable, sustainable and resilient infrastructure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Target 9.5 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Scientific research and technological capability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02752" y="4343400"/>
            <a:ext cx="2926080" cy="1554480"/>
          </a:xfrm>
          <a:prstGeom prst="roundRect">
            <a:avLst>
              <a:gd name="adj" fmla="val 8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94192" y="4389120"/>
            <a:ext cx="27432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2060"/>
                </a:solidFill>
                <a:latin typeface="Calibri"/>
              </a:rPr>
              <a:t>Contribution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Moves organizations from manual incident handling to intelligent, prioritized, AI-assisted response, strengthening digital infrastructure against evolving threats.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561320" cy="4023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1417320"/>
                <a:gridCol w="2926080"/>
                <a:gridCol w="2011680"/>
                <a:gridCol w="192024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S.No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Paper title &amp; venue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Takeaway for 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Buczak &amp; Guven</a:t>
                      </a: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  <a:b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</a:b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(2016)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 Survey of Data Mining and Machine Learning Methods for Cyber Security Intrusion Detection</a:t>
                      </a: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/>
                      </a:r>
                      <a:b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</a:b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>IEEE Commun. Surveys &amp; Tutorials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Survey of data-mining and ML methods for misuse and anomaly detection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Performance depends on the data, features and attack context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Favor transparent, attack-specific rules for triage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Sommer &amp; Paxson</a:t>
                      </a: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  <a:b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</a:b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(2010)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Outside the Closed World: On Using Machine Learning for Network Intrusion Detection</a:t>
                      </a: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/>
                      </a:r>
                      <a:b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</a:b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>IEEE Symp. Security &amp; Privacy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Analysis of why ML anomaly detection struggles in operational networks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High cost of errors, diverse traffic and a semantic gap between alerts and meaning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Every decision must be explainable to the analyst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Khraisat et al.</a:t>
                      </a: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  <a:b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</a:b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(2019)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Survey of Intrusion Detection Systems: Techniques, Datasets and Challenges</a:t>
                      </a: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/>
                      </a:r>
                      <a:b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</a:b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>Cybersecurity (Springer)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Review of signature-based and anomaly-based IDS and benchmark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No single technique suits every attack; dataset choice affects 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Per-attack rules feeding one shared priority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10512"/>
          <a:ext cx="10561320" cy="1188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1417320"/>
                <a:gridCol w="2926080"/>
                <a:gridCol w="2011680"/>
                <a:gridCol w="1920240"/>
                <a:gridCol w="17373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S.No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Author(s) &amp; 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Book &amp; publisher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Takeaway for 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Russell &amp; Norvig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Artificial Intelligence: A Modern Approach</a:t>
                      </a: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/>
                      </a:r>
                      <a:b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</a:br>
                      <a:r>
                        <a:rPr sz="1200" b="0" i="1">
                          <a:solidFill>
                            <a:srgbClr val="5B6472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Knowledge representation, forward chaining, heuristic search, constraint satisfaction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General methods; cybersecurity rules must be written for the domain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Source of the four AI techniques used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3154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COVERAGE MATRIX: WHERE THIS PROJECT FITS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474720"/>
          <a:ext cx="1056132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14600"/>
                <a:gridCol w="1554480"/>
                <a:gridCol w="155448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Attack detection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ML-based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Rule-based reasoning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Incident prioritization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Response recommendation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[1] Buczak &amp; Guven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[2] Sommer &amp; Paxson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[3] Khraisat et al.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[4] Russell &amp; Norvig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C00000"/>
                          </a:solidFill>
                          <a:latin typeface="Calibri"/>
                        </a:rPr>
                        <a:t>Proposed system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1">
                          <a:solidFill>
                            <a:srgbClr val="5B6472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A0A7B4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2E7D32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33872"/>
            <a:ext cx="10561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● covered   – not addressed   |   [3] covers rule-based reasoning through signature-based IDS</a:t>
            </a:r>
          </a:p>
        </p:txBody>
      </p:sp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Research Gap/Existing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434340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Existing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41148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Manual investigation, rule/signature-based IDS, security monitoring, and separate detection, analysis and response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852928"/>
            <a:ext cx="4069080" cy="1261872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36392"/>
            <a:ext cx="39319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1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Simple to implement</a:t>
            </a:r>
          </a:p>
          <a:p>
            <a:pPr marL="228600" indent="-228600">
              <a:spcAft>
                <a:spcPts val="1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Detects known attack patterns</a:t>
            </a:r>
          </a:p>
          <a:p>
            <a:pPr marL="228600" indent="-228600">
              <a:spcAft>
                <a:spcPts val="10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Useful for basic monitoring; established techniques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206240"/>
            <a:ext cx="4069080" cy="1719072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4233672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89704"/>
            <a:ext cx="393192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100"/>
              </a:spcAft>
              <a:buClr>
                <a:srgbClr val="C00000"/>
              </a:buClr>
              <a:buSzPct val="80000"/>
              <a:buFont typeface="Arial"/>
              <a:buChar char="✗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Alert volume overwhelms security teams</a:t>
            </a:r>
          </a:p>
          <a:p>
            <a:pPr marL="228600" indent="-228600">
              <a:spcAft>
                <a:spcPts val="100"/>
              </a:spcAft>
              <a:buClr>
                <a:srgbClr val="C00000"/>
              </a:buClr>
              <a:buSzPct val="80000"/>
              <a:buFont typeface="Arial"/>
              <a:buChar char="✗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Manual analysis is time-consuming</a:t>
            </a:r>
          </a:p>
          <a:p>
            <a:pPr marL="228600" indent="-228600">
              <a:spcAft>
                <a:spcPts val="100"/>
              </a:spcAft>
              <a:buClr>
                <a:srgbClr val="C00000"/>
              </a:buClr>
              <a:buSzPct val="80000"/>
              <a:buFont typeface="Arial"/>
              <a:buChar char="✗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Limited intelligent prioritization</a:t>
            </a:r>
          </a:p>
          <a:p>
            <a:pPr marL="228600" indent="-228600">
              <a:spcAft>
                <a:spcPts val="100"/>
              </a:spcAft>
              <a:buClr>
                <a:srgbClr val="C00000"/>
              </a:buClr>
              <a:buSzPct val="80000"/>
              <a:buFont typeface="Arial"/>
              <a:buChar char="✗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Response depends on human expertise</a:t>
            </a:r>
          </a:p>
          <a:p>
            <a:pPr marL="228600" indent="-228600">
              <a:spcAft>
                <a:spcPts val="100"/>
              </a:spcAft>
              <a:buClr>
                <a:srgbClr val="C00000"/>
              </a:buClr>
              <a:buSzPct val="80000"/>
              <a:buFont typeface="Arial"/>
              <a:buChar char="✗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Detection and response sit in separate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810512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Research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10512"/>
            <a:ext cx="2834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How this project responds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2176272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68112" y="2176272"/>
            <a:ext cx="27432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ML is hard to apply reliably to real network security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21040" y="2395728"/>
            <a:ext cx="274320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41080" y="2176272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14232" y="2176272"/>
            <a:ext cx="260604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Rule-based expert system with explicit, auditable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2953512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68112" y="2953512"/>
            <a:ext cx="27432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ML needs labelled datasets and feature engineering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321040" y="3172968"/>
            <a:ext cx="274320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41080" y="2953512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714232" y="2953512"/>
            <a:ext cx="260604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Rules run on incident attributes; no training set required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3730752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68112" y="3730752"/>
            <a:ext cx="27432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Real network data is hard to model accurately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321040" y="3950208"/>
            <a:ext cx="274320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41080" y="3730752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714232" y="3730752"/>
            <a:ext cx="260604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Reason over incident-level facts: type, source, target, 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4507992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68112" y="4507992"/>
            <a:ext cx="27432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No single technique suits every attack type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321040" y="4727448"/>
            <a:ext cx="274320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41080" y="4507992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14232" y="4507992"/>
            <a:ext cx="260604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Per-attack rule sets feeding one shared priority score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94960" y="5285231"/>
            <a:ext cx="2880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468112" y="5285231"/>
            <a:ext cx="27432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Weak prioritization and response support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321040" y="5504688"/>
            <a:ext cx="274320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41080" y="5285231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714232" y="5285231"/>
            <a:ext cx="260604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Heuristic priority plus constraint-based response selection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Proposed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10561320" cy="932688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32688" y="1993392"/>
            <a:ext cx="548640" cy="548640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8" y="2114092"/>
            <a:ext cx="307238" cy="307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1856231"/>
            <a:ext cx="169164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938528"/>
            <a:ext cx="38404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37560" y="1938528"/>
            <a:ext cx="37490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Security analyst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Submits and reviews incidents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938528"/>
            <a:ext cx="38404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52360" y="1938528"/>
            <a:ext cx="37490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Web dashboard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Incidents, priority, recommended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52928"/>
            <a:ext cx="10561320" cy="932688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32688" y="3035808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d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388" y="3156508"/>
            <a:ext cx="307238" cy="3072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54480" y="2898648"/>
            <a:ext cx="169164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Application</a:t>
            </a:r>
            <a:br>
              <a:rPr sz="1300" b="1" i="0">
                <a:solidFill>
                  <a:srgbClr val="002060"/>
                </a:solidFill>
                <a:latin typeface="Calibri"/>
              </a:rPr>
            </a:br>
            <a:r>
              <a:rPr sz="1300" b="1" i="0">
                <a:solidFill>
                  <a:srgbClr val="002060"/>
                </a:solidFill>
                <a:latin typeface="Calibri"/>
              </a:rPr>
              <a:t>(Spring Boot REST)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980944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337560" y="2980944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Controller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REST endpoints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02352" y="3319272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49240" y="2980944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94959" y="2980944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Service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Business logic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59752" y="3319272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06640" y="2980944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52360" y="2980944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Repository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Data access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17152" y="3319272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464040" y="2980944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509760" y="2980944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Entity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Incident 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895344"/>
            <a:ext cx="10561320" cy="932688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32688" y="4078224"/>
            <a:ext cx="548640" cy="548640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8" y="4198924"/>
            <a:ext cx="307238" cy="30723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54480" y="3941063"/>
            <a:ext cx="169164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AI analysis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4023359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337560" y="4023359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Rule base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IF-THEN knowledge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02352" y="4361688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49240" y="4023359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394959" y="4023359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Inference engine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Forward chaining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59752" y="4361688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406640" y="4023359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52360" y="4023359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Heuristic evaluator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Severity &amp; priority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217152" y="4361688"/>
            <a:ext cx="219456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464040" y="4023359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509760" y="4023359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Constraint solver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Response selection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4937760"/>
            <a:ext cx="10561320" cy="932688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932688" y="512064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db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88" y="5241340"/>
            <a:ext cx="307238" cy="30723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54480" y="4983480"/>
            <a:ext cx="169164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Data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40" y="5065776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337560" y="5065776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Incident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Core record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49240" y="5065776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394959" y="5065776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IncidentAnalysis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Class, score, response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06640" y="5065776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452360" y="5065776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ResponseAction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Action catalogue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64040" y="5065776"/>
            <a:ext cx="1783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509760" y="5065776"/>
            <a:ext cx="169164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Calibri"/>
              </a:rPr>
              <a:t>SystemLog / User</a:t>
            </a:r>
          </a:p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Audit and access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" y="605332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IMPLEMENTED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40280" y="605332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DFD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717804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1856231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LEVEL 0 (CONTEXT)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148840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692D91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Security logs / external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33756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AI-Powered Incident Response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47472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User</a:t>
            </a:r>
            <a:br>
              <a:rPr sz="1200" b="1" i="0">
                <a:solidFill>
                  <a:srgbClr val="FFFFFF"/>
                </a:solidFill>
                <a:latin typeface="Calibri"/>
              </a:rPr>
            </a:br>
            <a:r>
              <a:rPr sz="1200" b="1" i="0">
                <a:solidFill>
                  <a:srgbClr val="FFFFFF"/>
                </a:solidFill>
                <a:latin typeface="Calibri"/>
              </a:rPr>
              <a:t>(Security analyst)</a:t>
            </a:r>
          </a:p>
        </p:txBody>
      </p:sp>
      <p:sp>
        <p:nvSpPr>
          <p:cNvPr id="12" name="Can 11"/>
          <p:cNvSpPr/>
          <p:nvPr/>
        </p:nvSpPr>
        <p:spPr>
          <a:xfrm>
            <a:off x="6537960" y="3246120"/>
            <a:ext cx="1325880" cy="1188720"/>
          </a:xfrm>
          <a:prstGeom prst="can">
            <a:avLst/>
          </a:prstGeom>
          <a:solidFill>
            <a:srgbClr val="2E7D32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MySQL</a:t>
            </a:r>
            <a:br>
              <a:rPr sz="1300" b="1" i="0">
                <a:solidFill>
                  <a:srgbClr val="FFFFFF"/>
                </a:solidFill>
                <a:latin typeface="Calibri"/>
              </a:rPr>
            </a:br>
            <a:r>
              <a:rPr sz="13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5257800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C7770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8288" rIns="45720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analysis engine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89120" y="2715768"/>
            <a:ext cx="0" cy="62179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462272" y="2880360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3657600"/>
            <a:ext cx="68580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87752" y="3346704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377440" y="4041648"/>
            <a:ext cx="68580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587752" y="4114800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15000" y="3657600"/>
            <a:ext cx="82296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715000" y="4041648"/>
            <a:ext cx="822960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998464" y="3346704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343400"/>
            <a:ext cx="0" cy="91440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749039" y="4663440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4663440" y="4343400"/>
            <a:ext cx="0" cy="91440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773168" y="4663440"/>
            <a:ext cx="256032" cy="2560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1810512"/>
            <a:ext cx="320040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21040" y="1874519"/>
            <a:ext cx="2926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Data flows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2331720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286000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Incident information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logs and alerts from external sources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2935224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889504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Incident data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query or request from the analyst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3538728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493008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Store / retrieve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incident records to and from MySQL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4142232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096512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Processed data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sent to the AI engine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0" y="4745736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700016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Classification, priority, response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returned by the AI engine</a:t>
            </a:r>
          </a:p>
        </p:txBody>
      </p:sp>
      <p:sp>
        <p:nvSpPr>
          <p:cNvPr id="39" name="Oval 38"/>
          <p:cNvSpPr/>
          <p:nvPr/>
        </p:nvSpPr>
        <p:spPr>
          <a:xfrm>
            <a:off x="8321040" y="5349240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303520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Analysis results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response recommendation to analyst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UML Diagrams: Use Case and Activity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434340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use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883664"/>
            <a:ext cx="4206240" cy="37306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623560"/>
            <a:ext cx="4343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5B6472"/>
                </a:solidFill>
                <a:latin typeface="Calibri"/>
              </a:rPr>
              <a:t>Fig. 3.2  Use case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810512"/>
            <a:ext cx="246888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1883664"/>
            <a:ext cx="2331720" cy="37516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49240" y="5623560"/>
            <a:ext cx="24688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5B6472"/>
                </a:solidFill>
                <a:latin typeface="Calibri"/>
              </a:rPr>
              <a:t>Fig. 3.3  Activity diagram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10512"/>
            <a:ext cx="3383280" cy="422452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56448" y="1901952"/>
            <a:ext cx="3108960" cy="4069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D7D7"/>
                </a:solidFill>
                <a:latin typeface="Calibri"/>
              </a:rPr>
              <a:t>Actors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Security analyst: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manages incidents (CRUD), views analysis, priority and recommendation, searches and filters, opens dashboard reports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Administrator: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manages users and system settings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D7D7"/>
                </a:solidFill>
                <a:latin typeface="Calibri"/>
              </a:rPr>
              <a:t>AI analysis module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Classify incident, determine priority and recommend response, included in the analyst's analysis use cases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D7D7"/>
                </a:solidFill>
                <a:latin typeface="Calibri"/>
              </a:rPr>
              <a:t>Activity flow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Submit, store, preprocess, analyze with rule engine, prioritize heuristically, recommend under constraints, display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UML Diagrams: Class and Sequence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483168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883664"/>
            <a:ext cx="4685385" cy="2788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718303"/>
            <a:ext cx="4831689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5B6472"/>
                </a:solidFill>
                <a:latin typeface="Calibri"/>
              </a:rPr>
              <a:t>Fig. 3.4  Class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37529" y="1810512"/>
            <a:ext cx="54091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e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0681" y="1883664"/>
            <a:ext cx="5262856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37529" y="4718303"/>
            <a:ext cx="54091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5B6472"/>
                </a:solidFill>
                <a:latin typeface="Calibri"/>
              </a:rPr>
              <a:t>Fig. 3.5  Sequence diagram (incident analysis flow)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93792"/>
            <a:ext cx="4831689" cy="841247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4685385" cy="8412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6 classes: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User, Role, Incident, IncidentAnalysis, ResponseAction, SystemLog. One user creates many incidents; each incident has one analysis that recommends many response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37529" y="5193792"/>
            <a:ext cx="5409160" cy="841247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28969" y="5193792"/>
            <a:ext cx="5262856" cy="8412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10 messages: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analyst to UI to Spring Boot controller; the service stores the incident in MySQL, calls the AI engine for classification, priority and response, saves results and returns them to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Methodology/Work Flow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32688" y="193852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92024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Incident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Attack type, source, target and details arrive through the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1546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IMPLEMENTED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46120" y="2546603"/>
            <a:ext cx="25603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47872" y="182880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657600" y="193852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Validate &amp; preprocess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2316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Check required fields and convert values into facts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1546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71032" y="2546603"/>
            <a:ext cx="25603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2784" y="182880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382512" y="193852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192024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Rule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42316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Compare facts with IF-THEN rules for each attack class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31546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695944" y="2546603"/>
            <a:ext cx="25603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97696" y="182880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07424" y="193852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192024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Forward chaining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242316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Fire matched rules and add new facts until none apply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07424" y="31546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7696" y="402336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107424" y="413308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4624" y="411480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Heuristic 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461772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Score severity from incident characteristics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07424" y="53492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8695944" y="4741164"/>
            <a:ext cx="256032" cy="256032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72784" y="402336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82512" y="413308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411480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Select 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61772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Pick actions that satisfy every incident constraint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2512" y="53492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41" name="Left Arrow 40"/>
          <p:cNvSpPr/>
          <p:nvPr/>
        </p:nvSpPr>
        <p:spPr>
          <a:xfrm>
            <a:off x="5971032" y="4741164"/>
            <a:ext cx="256032" cy="256032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47872" y="402336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3657600" y="413308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11480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Store / return result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61772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Persist in MySQL and return through the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0" y="53492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3246120" y="4741164"/>
            <a:ext cx="256032" cy="256032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" y="4023360"/>
            <a:ext cx="2377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932688" y="4133088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89888" y="4114800"/>
            <a:ext cx="1737360" cy="438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Dashboard &amp; evaluation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" y="4617720"/>
            <a:ext cx="2157984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Display results and test with attack scenarios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2688" y="53492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10058400" y="3611880"/>
            <a:ext cx="256032" cy="320040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2960" y="3630168"/>
            <a:ext cx="6400800" cy="29260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22960" y="3611880"/>
            <a:ext cx="77724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Red outline</a:t>
            </a:r>
            <a:r>
              <a:rPr sz="1200" b="0" i="0">
                <a:solidFill>
                  <a:srgbClr val="5B6472"/>
                </a:solidFill>
                <a:latin typeface="Calibri"/>
              </a:rPr>
              <a:t> = AI core (steps 3 to 6): rule-based reasoning, forward chaining, heuristic evaluation, constraint satisfaction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AI Reasoning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5212080" cy="2048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87552" y="1975104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m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369" y="2115921"/>
            <a:ext cx="358444" cy="3584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1975104"/>
            <a:ext cx="41148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Rule-based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79191"/>
            <a:ext cx="484632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Knowledge stored as IF condition THEN conclusion rules written from security domain knowledge.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346704"/>
            <a:ext cx="4846320" cy="411480"/>
          </a:xfrm>
          <a:prstGeom prst="roundRect">
            <a:avLst>
              <a:gd name="adj" fmla="val 3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97280" y="3346704"/>
            <a:ext cx="47091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Role: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Maps incident facts to an attack class: brute force, port scan or 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10512"/>
            <a:ext cx="5212080" cy="2048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36792" y="1975104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609" y="2115921"/>
            <a:ext cx="358444" cy="3584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1975104"/>
            <a:ext cx="41148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Forward chaining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79191"/>
            <a:ext cx="484632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Data-driven inference: start from known facts, fire every rule whose conditions hold, add conclusions, repeat until nothing new.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346704"/>
            <a:ext cx="4846320" cy="411480"/>
          </a:xfrm>
          <a:prstGeom prst="roundRect">
            <a:avLst>
              <a:gd name="adj" fmla="val 3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3346704"/>
            <a:ext cx="47091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Role: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Derives classification and severity step by step, so every result has a rule trace.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86783"/>
            <a:ext cx="5212080" cy="2048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87552" y="4151375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o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369" y="4292193"/>
            <a:ext cx="358444" cy="3584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83080" y="4151375"/>
            <a:ext cx="41148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Heuristic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55464"/>
            <a:ext cx="484632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Scores an incident from its characteristics instead of exhaustive analysis. Candidate factors: attack type, target criticality, frequency, rule confidence.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5522975"/>
            <a:ext cx="4846320" cy="411480"/>
          </a:xfrm>
          <a:prstGeom prst="roundRect">
            <a:avLst>
              <a:gd name="adj" fmla="val 3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97280" y="5522975"/>
            <a:ext cx="47091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Role: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Orders incidents into Critical, High, Medium and Low priority.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986783"/>
            <a:ext cx="5212080" cy="2048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36792" y="415137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alanc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609" y="4292193"/>
            <a:ext cx="358444" cy="3584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32320" y="4151375"/>
            <a:ext cx="41148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Constraint satisfaction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855464"/>
            <a:ext cx="484632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Treats response actions as choices that must satisfy incident conditions, e.g. never auto-block a whitelisted internal host.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5522975"/>
            <a:ext cx="4846320" cy="411480"/>
          </a:xfrm>
          <a:prstGeom prst="roundRect">
            <a:avLst>
              <a:gd name="adj" fmla="val 30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46520" y="5522975"/>
            <a:ext cx="470916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Role: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Returns only response actions that are valid for this incident.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Sample Rule Base and Inference Trace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10512"/>
          <a:ext cx="6309360" cy="353872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3520440"/>
                <a:gridCol w="224028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IF (conditions)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THEN (conclusion)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failed logins &gt; N within T, single source IP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type = Brute force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distinct ports probed &gt; P from one source within 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type = Port scan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request rate &gt; k × baseline AND service degraded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type = DoS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type = Brute force AND target = privileged account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severity = High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type = DoS AND service = critical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severity = Critical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R6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severity ∈ {High, Critical}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notify analyst immediately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468112"/>
            <a:ext cx="63093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5B6472"/>
                </a:solidFill>
                <a:latin typeface="Calibri"/>
              </a:rPr>
              <a:t>Illustrative design rules. N, P, T and k are thresholds to be fixed and tested during implementation.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810512"/>
            <a:ext cx="397763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7406640" y="1810512"/>
            <a:ext cx="1143000" cy="585216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810512"/>
            <a:ext cx="2743199" cy="58521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many failed logins in a short window, one source IP, target = admin account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73567" y="2395728"/>
            <a:ext cx="0" cy="12801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2523744"/>
            <a:ext cx="397763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406640" y="2523744"/>
            <a:ext cx="1143000" cy="58521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R1 fires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523744"/>
            <a:ext cx="2743199" cy="58521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type = Brute force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73567" y="3108960"/>
            <a:ext cx="0" cy="12801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3236976"/>
            <a:ext cx="397763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406640" y="3236976"/>
            <a:ext cx="1143000" cy="58521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R4 fires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36976"/>
            <a:ext cx="2743199" cy="58521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severity = High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73567" y="3822191"/>
            <a:ext cx="0" cy="128017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06640" y="3950208"/>
            <a:ext cx="397763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406640" y="3950208"/>
            <a:ext cx="1143000" cy="585216"/>
          </a:xfrm>
          <a:prstGeom prst="roundRect">
            <a:avLst>
              <a:gd name="adj" fmla="val 8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950208"/>
            <a:ext cx="2743199" cy="58521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priority = High (privileged target, repeated attempts)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73567" y="4535424"/>
            <a:ext cx="0" cy="12801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06640" y="4663440"/>
            <a:ext cx="397763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406640" y="4663440"/>
            <a:ext cx="1143000" cy="585216"/>
          </a:xfrm>
          <a:prstGeom prst="roundRect">
            <a:avLst>
              <a:gd name="adj" fmla="val 8000"/>
            </a:avLst>
          </a:prstGeom>
          <a:solidFill>
            <a:srgbClr val="69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Constraints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663440"/>
            <a:ext cx="2743199" cy="58521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source not whitelisted ✓  production login service ✓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73567" y="5248655"/>
            <a:ext cx="0" cy="128017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406640" y="5376672"/>
            <a:ext cx="3977639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406640" y="5376672"/>
            <a:ext cx="1143000" cy="58521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5376672"/>
            <a:ext cx="2743199" cy="58521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block source IP, lock and reset account, alert analyst (R6)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Tools and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87552" y="1993392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av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" y="2144268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10512" y="194767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29514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75234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Core language for backend services and the AI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10512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553712" y="1993392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eaf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88" y="2144268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76672" y="194767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Spring Boot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29514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BACKEND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75234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REST API with entity, repository, service and controller layers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810512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119871" y="1993392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747" y="214426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42832" y="194767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29514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275234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Persistent store for incident records and analysis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593591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87552" y="3776472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428" y="392734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10512" y="373075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Postman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0512" y="407822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API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53542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Create, read, update and delete endpoints tested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593591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553712" y="3776472"/>
            <a:ext cx="685800" cy="6858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lu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588" y="3927348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76672" y="373075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REST / 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407822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53542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Contract between dashboard, backend and AI engine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3593591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119871" y="3776472"/>
            <a:ext cx="685800" cy="685800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das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0747" y="3927348"/>
            <a:ext cx="384048" cy="3840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942832" y="3730752"/>
            <a:ext cx="22860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Web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4078224"/>
            <a:ext cx="2286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USER INTERFACE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1" y="4535424"/>
            <a:ext cx="30632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Monitoring view for incidents, priorities and actions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440680"/>
            <a:ext cx="10515600" cy="5943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960120" y="550468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rai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5605272"/>
            <a:ext cx="256032" cy="25603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54480" y="5440680"/>
            <a:ext cx="96926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FFD7D7"/>
                </a:solidFill>
                <a:latin typeface="Calibri"/>
              </a:rPr>
              <a:t>No training dataset or ML model needed: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the AI layer is knowledge-based (rules, inference, heuristics, constraints) and runs on incident attributes.</a:t>
            </a:r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List of Modules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245059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60" y="1810512"/>
            <a:ext cx="2450592" cy="11430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97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0" name="Oval 9"/>
          <p:cNvSpPr/>
          <p:nvPr/>
        </p:nvSpPr>
        <p:spPr>
          <a:xfrm>
            <a:off x="2587752" y="19019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b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429" y="2018629"/>
            <a:ext cx="296997" cy="2969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377440"/>
            <a:ext cx="217627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Incident Management &amp;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2221992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CRUD for incident records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Spring Boot layers + MySQL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APIs tested in Postman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1772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Progress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919472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60120" y="4919472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60120" y="51206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IMPLEMENTED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91840" y="3520440"/>
            <a:ext cx="21031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20440" y="1810512"/>
            <a:ext cx="245059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520440" y="1810512"/>
            <a:ext cx="2450592" cy="11430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57600" y="1828800"/>
            <a:ext cx="1097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2" name="Oval 21"/>
          <p:cNvSpPr/>
          <p:nvPr/>
        </p:nvSpPr>
        <p:spPr>
          <a:xfrm>
            <a:off x="5285232" y="19019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in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909" y="2018629"/>
            <a:ext cx="296997" cy="29699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7600" y="2377440"/>
            <a:ext cx="217627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AI-Based Incident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090672"/>
            <a:ext cx="2221992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Rule base per attack class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Forward-chaining inference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Classification with rule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61772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Progress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919472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3657600" y="51206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89320" y="3520440"/>
            <a:ext cx="21031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1810512"/>
            <a:ext cx="245059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6217920" y="1810512"/>
            <a:ext cx="2450592" cy="11430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55080" y="1828800"/>
            <a:ext cx="1097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33" name="Oval 32"/>
          <p:cNvSpPr/>
          <p:nvPr/>
        </p:nvSpPr>
        <p:spPr>
          <a:xfrm>
            <a:off x="7982712" y="19019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ort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389" y="2018629"/>
            <a:ext cx="296997" cy="29699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55080" y="2377440"/>
            <a:ext cx="217627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Intelligent Prioritization &amp;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090672"/>
            <a:ext cx="2221992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Heuristic severity and priority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Constraint-based action selection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Recommended response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61772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Progress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919472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6355080" y="51206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686800" y="3520440"/>
            <a:ext cx="210312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15400" y="1810512"/>
            <a:ext cx="245059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8915400" y="1810512"/>
            <a:ext cx="2450592" cy="11430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52560" y="1828800"/>
            <a:ext cx="1097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44" name="Oval 43"/>
          <p:cNvSpPr/>
          <p:nvPr/>
        </p:nvSpPr>
        <p:spPr>
          <a:xfrm>
            <a:off x="10680192" y="19019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dash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6869" y="2018629"/>
            <a:ext cx="296997" cy="29699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052560" y="2377440"/>
            <a:ext cx="217627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 &amp;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090672"/>
            <a:ext cx="2221992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Incident list and status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Priority and AI recommendations</a:t>
            </a:r>
          </a:p>
          <a:p>
            <a:pPr marL="228600" indent="-228600">
              <a:spcAft>
                <a:spcPts val="6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Connected to REST APIs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461772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5B6472"/>
                </a:solidFill>
                <a:latin typeface="Calibri"/>
              </a:rPr>
              <a:t>Progress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919472"/>
            <a:ext cx="2176272" cy="146304"/>
          </a:xfrm>
          <a:prstGeom prst="roundRect">
            <a:avLst>
              <a:gd name="adj" fmla="val 50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9052560" y="51206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623560"/>
            <a:ext cx="10515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Current milestone: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M1 backend foundation complete; M2 to M4 build the end-to-end AI-assisted response workflow on top of it.</a:t>
            </a:r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Module Description(For each Module separately)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4206240" cy="34747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MODULE 1  |  INCIDENT MANAGEMENT &amp;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64792"/>
            <a:ext cx="484632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1">
                <a:solidFill>
                  <a:srgbClr val="5B6472"/>
                </a:solidFill>
                <a:latin typeface="Calibri"/>
              </a:rPr>
              <a:t>Purpose: create, read, update and delete incident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3749039" cy="603504"/>
          </a:xfrm>
          <a:prstGeom prst="roundRect">
            <a:avLst>
              <a:gd name="adj" fmla="val 8000"/>
            </a:avLst>
          </a:prstGeom>
          <a:solidFill>
            <a:srgbClr val="0B2E6F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1234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331720"/>
            <a:ext cx="2377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E8EEF8"/>
                </a:solidFill>
                <a:latin typeface="Calibri"/>
              </a:rPr>
              <a:t>Exposes REST endpoints, maps HTTP to service calls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2935224"/>
            <a:ext cx="0" cy="128015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3063239"/>
            <a:ext cx="3749039" cy="603504"/>
          </a:xfrm>
          <a:prstGeom prst="roundRect">
            <a:avLst>
              <a:gd name="adj" fmla="val 8000"/>
            </a:avLst>
          </a:prstGeom>
          <a:solidFill>
            <a:srgbClr val="1A3D8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3063239"/>
            <a:ext cx="1234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063239"/>
            <a:ext cx="2377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E8EEF8"/>
                </a:solidFill>
                <a:latin typeface="Calibri"/>
              </a:rPr>
              <a:t>Business logic and validation hooks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97480" y="3666744"/>
            <a:ext cx="0" cy="128015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3794760"/>
            <a:ext cx="3749039" cy="603504"/>
          </a:xfrm>
          <a:prstGeom prst="roundRect">
            <a:avLst>
              <a:gd name="adj" fmla="val 8000"/>
            </a:avLst>
          </a:prstGeom>
          <a:solidFill>
            <a:srgbClr val="2B4E91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1234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794760"/>
            <a:ext cx="2377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E8EEF8"/>
                </a:solidFill>
                <a:latin typeface="Calibri"/>
              </a:rPr>
              <a:t>Data access for incident entities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7480" y="4398264"/>
            <a:ext cx="0" cy="128016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" y="4526280"/>
            <a:ext cx="3749039" cy="603504"/>
          </a:xfrm>
          <a:prstGeom prst="roundRect">
            <a:avLst>
              <a:gd name="adj" fmla="val 8000"/>
            </a:avLst>
          </a:prstGeom>
          <a:solidFill>
            <a:srgbClr val="3D60A3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1234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526280"/>
            <a:ext cx="2377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E8EEF8"/>
                </a:solidFill>
                <a:latin typeface="Calibri"/>
              </a:rPr>
              <a:t>Incident object mapped to a table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97480" y="5129784"/>
            <a:ext cx="0" cy="128016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5257800"/>
            <a:ext cx="3749039" cy="60350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1234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257800"/>
            <a:ext cx="2377440" cy="603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E8EEF8"/>
                </a:solidFill>
                <a:latin typeface="Calibri"/>
              </a:rPr>
              <a:t>Persistent incident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33172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37760" y="2395728"/>
            <a:ext cx="3017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CRUD operations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294436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852928"/>
            <a:ext cx="201168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Create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ourier New"/>
              </a:rPr>
              <a:t>createIncident()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36576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566160"/>
            <a:ext cx="201168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Read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ourier New"/>
              </a:rPr>
              <a:t>getIncidentDetails()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4370831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279392"/>
            <a:ext cx="201168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Update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ourier New"/>
              </a:rPr>
              <a:t>updateIncident()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508406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992624"/>
            <a:ext cx="201168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Delete</a:t>
            </a:r>
          </a:p>
          <a:p>
            <a:pPr algn="l"/>
            <a:r>
              <a:rPr sz="1100" b="0" i="0">
                <a:solidFill>
                  <a:srgbClr val="5B6472"/>
                </a:solidFill>
                <a:latin typeface="Courier New"/>
              </a:rPr>
              <a:t>remove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5596128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✓ All four verified in Postman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2331720"/>
            <a:ext cx="31546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229600" y="2331720"/>
            <a:ext cx="3154680" cy="4572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27432" rIns="45720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Incident  (entity)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880360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2880360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Long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3255264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title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255264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630168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description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3630168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String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005072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incidentType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4005072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String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379976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4379976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String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754879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status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754879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String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129783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createdAt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5129783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5504688"/>
            <a:ext cx="173736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ourier New"/>
              </a:rPr>
              <a:t>updatedAt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5504688"/>
            <a:ext cx="1234440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0" i="0">
                <a:solidFill>
                  <a:srgbClr val="692D91"/>
                </a:solidFill>
                <a:latin typeface="Courier New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Module Description(For each Module separately)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4206240" cy="34747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MODULES 2 TO 4  |  AI LAYER AND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338328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0120" y="23957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44" y="2520452"/>
            <a:ext cx="317479" cy="3174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27632" y="2359152"/>
            <a:ext cx="25146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M2  </a:t>
            </a:r>
            <a:r>
              <a:rPr sz="1400" b="1" i="0">
                <a:solidFill>
                  <a:srgbClr val="002060"/>
                </a:solidFill>
                <a:latin typeface="Calibri"/>
              </a:rPr>
              <a:t>AI-Based Incident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108960"/>
            <a:ext cx="3108960" cy="804672"/>
          </a:xfrm>
          <a:prstGeom prst="roundRect">
            <a:avLst>
              <a:gd name="adj" fmla="val 8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145536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002060"/>
                </a:solidFill>
                <a:latin typeface="Calibri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83279"/>
            <a:ext cx="292608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Validated incident facts: type, source, target, counts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3913632"/>
            <a:ext cx="0" cy="15544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20" y="4069080"/>
            <a:ext cx="3108960" cy="804672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4105656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77700"/>
                </a:solidFill>
                <a:latin typeface="Calibri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292608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Match rules, run forward chaining until no new facts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14600" y="4873752"/>
            <a:ext cx="0" cy="15544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" y="5029200"/>
            <a:ext cx="3108960" cy="804672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51560" y="5065776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03520"/>
            <a:ext cx="292608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Attack classification plus fired-rule trace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286000"/>
            <a:ext cx="338328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526280" y="23957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o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004" y="2520452"/>
            <a:ext cx="317479" cy="31747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193792" y="2359152"/>
            <a:ext cx="25146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M3  </a:t>
            </a:r>
            <a:r>
              <a:rPr sz="1400" b="1" i="0">
                <a:solidFill>
                  <a:srgbClr val="002060"/>
                </a:solidFill>
                <a:latin typeface="Calibri"/>
              </a:rPr>
              <a:t>Prioritization &amp; Response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108960"/>
            <a:ext cx="3108960" cy="804672"/>
          </a:xfrm>
          <a:prstGeom prst="roundRect">
            <a:avLst>
              <a:gd name="adj" fmla="val 8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617720" y="3145536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002060"/>
                </a:solidFill>
                <a:latin typeface="Calibri"/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383279"/>
            <a:ext cx="292608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Classification and incident characteristics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3913632"/>
            <a:ext cx="0" cy="15544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26280" y="4069080"/>
            <a:ext cx="3108960" cy="804672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617720" y="4105656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77700"/>
                </a:solidFill>
                <a:latin typeface="Calibri"/>
              </a:rPr>
              <a:t>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343400"/>
            <a:ext cx="292608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Heuristic severity score; constraint check on candidate actions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80760" y="4873752"/>
            <a:ext cx="0" cy="15544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526280" y="5029200"/>
            <a:ext cx="3108960" cy="804672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617720" y="5065776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303520"/>
            <a:ext cx="292608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Priority level and recommended response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2286000"/>
            <a:ext cx="338328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092440" y="23957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das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164" y="2520452"/>
            <a:ext cx="317479" cy="31747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759952" y="2359152"/>
            <a:ext cx="25146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M4  </a:t>
            </a:r>
            <a:r>
              <a:rPr sz="1400" b="1" i="0">
                <a:solidFill>
                  <a:srgbClr val="002060"/>
                </a:solidFill>
                <a:latin typeface="Calibri"/>
              </a:rPr>
              <a:t>Dashboard &amp; Integration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3108960"/>
            <a:ext cx="3108960" cy="804672"/>
          </a:xfrm>
          <a:prstGeom prst="roundRect">
            <a:avLst>
              <a:gd name="adj" fmla="val 8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83880" y="3145536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002060"/>
                </a:solidFill>
                <a:latin typeface="Calibri"/>
              </a:rPr>
              <a:t>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3383279"/>
            <a:ext cx="292608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Incidents and analysis results via REST API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46920" y="3913632"/>
            <a:ext cx="0" cy="15544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092440" y="4069080"/>
            <a:ext cx="3108960" cy="804672"/>
          </a:xfrm>
          <a:prstGeom prst="roundRect">
            <a:avLst>
              <a:gd name="adj" fmla="val 8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83880" y="4105656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C77700"/>
                </a:solidFill>
                <a:latin typeface="Calibri"/>
              </a:rPr>
              <a:t>PROCESS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80" y="4343400"/>
            <a:ext cx="292608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List, search and filter; show priority and actions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646920" y="4873752"/>
            <a:ext cx="0" cy="15544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092440" y="5029200"/>
            <a:ext cx="3108960" cy="804672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183880" y="5065776"/>
            <a:ext cx="1097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5303520"/>
            <a:ext cx="2926080" cy="530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Monitoring view and reports for analysts</a:t>
            </a:r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Threat Model and Security Controls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ATTACK SURFACES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99339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96112" y="2112264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s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212848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057400"/>
            <a:ext cx="13716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Web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2057400"/>
            <a:ext cx="199339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026664" y="2112264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u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2212848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47872" y="2057400"/>
            <a:ext cx="13716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REST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2057400"/>
            <a:ext cx="199339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157216" y="2112264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212848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78424" y="2057400"/>
            <a:ext cx="13716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AI analysis module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14616" y="2057400"/>
            <a:ext cx="199339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287768" y="2112264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s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2212848"/>
            <a:ext cx="256032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08976" y="2057400"/>
            <a:ext cx="13716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5168" y="2057400"/>
            <a:ext cx="199339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418320" y="2112264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8904" y="2212848"/>
            <a:ext cx="256032" cy="2560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39528" y="2057400"/>
            <a:ext cx="137160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Calibri"/>
              </a:rPr>
              <a:t>MySQL database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22960" y="2788920"/>
          <a:ext cx="10515600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2834640"/>
                <a:gridCol w="49377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Target surface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Security control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Unauthorized access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Dashboard, authentication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Authentication and role-based authorization (User, Role)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SQL injection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MySQL via REST APIs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Input validation and parameterized database queries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API abuse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REST APIs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API security: reject unauthorized requests, request controls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Data manipulation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Incident records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Data integrity checks; activity recorded in SystemLog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Credential theft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Authentication system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Restricted access, logging and monitoring of user actions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Denial-of-service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APIs, dashboard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Availability: error handling, backups, request controls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Rule tampering / bad input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AI analysis 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AI security: controlled rule set and validated inputs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Results &amp; Discussion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31089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29260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Milestone completion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2148840"/>
          <a:ext cx="292608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2779776"/>
            <a:ext cx="2926080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2926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2E7D32"/>
                </a:solidFill>
                <a:latin typeface="Calibri"/>
              </a:rPr>
              <a:t>■ </a:t>
            </a:r>
            <a:r>
              <a:rPr sz="1000" b="0" i="0">
                <a:solidFill>
                  <a:srgbClr val="5B6472"/>
                </a:solidFill>
                <a:latin typeface="Calibri"/>
              </a:rPr>
              <a:t>Completed 6   </a:t>
            </a:r>
            <a:r>
              <a:rPr sz="1000" b="0" i="0">
                <a:solidFill>
                  <a:srgbClr val="C3CAD5"/>
                </a:solidFill>
                <a:latin typeface="Calibri"/>
              </a:rPr>
              <a:t>■ </a:t>
            </a:r>
            <a:r>
              <a:rPr sz="1000" b="0" i="0">
                <a:solidFill>
                  <a:srgbClr val="5B6472"/>
                </a:solidFill>
                <a:latin typeface="Calibri"/>
              </a:rPr>
              <a:t>Pending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810512"/>
            <a:ext cx="3794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60520" y="1847088"/>
            <a:ext cx="35661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Milestones by module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114800" y="2103120"/>
          <a:ext cx="3703320" cy="21762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01000" y="1810512"/>
            <a:ext cx="338328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19872" y="1847088"/>
            <a:ext cx="3200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Calibri"/>
              </a:rPr>
              <a:t>Implementation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139696"/>
            <a:ext cx="3246120" cy="1143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Spring Boot project configured</a:t>
            </a:r>
          </a:p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MySQL database created</a:t>
            </a:r>
          </a:p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Incident entity integrated</a:t>
            </a:r>
          </a:p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Repository, service, controller</a:t>
            </a:r>
          </a:p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CRUD REST APIs developed</a:t>
            </a:r>
          </a:p>
          <a:p>
            <a:pPr marL="228600" indent="-228600">
              <a:spcAft>
                <a:spcPts val="0"/>
              </a:spcAft>
              <a:buClr>
                <a:srgbClr val="2E7D32"/>
              </a:buClr>
              <a:buSzPct val="80000"/>
              <a:buFont typeface="Arial"/>
              <a:buChar char="✓"/>
            </a:pPr>
            <a:r>
              <a:rPr sz="1100" b="0" i="0">
                <a:solidFill>
                  <a:srgbClr val="1F2937"/>
                </a:solidFill>
                <a:latin typeface="Calibri"/>
              </a:rPr>
              <a:t>APIs tested in Postman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29184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0"/>
              </a:spcAft>
              <a:buClr>
                <a:srgbClr val="C77700"/>
              </a:buClr>
              <a:buSzPct val="80000"/>
              <a:buFont typeface="Arial"/>
              <a:buChar char="○"/>
            </a:pPr>
            <a:r>
              <a:rPr sz="1100" b="0" i="0">
                <a:solidFill>
                  <a:srgbClr val="5B6472"/>
                </a:solidFill>
                <a:latin typeface="Calibri"/>
              </a:rPr>
              <a:t>AI rule-based analysis</a:t>
            </a:r>
          </a:p>
          <a:p>
            <a:pPr marL="228600" indent="-228600">
              <a:spcAft>
                <a:spcPts val="0"/>
              </a:spcAft>
              <a:buClr>
                <a:srgbClr val="C77700"/>
              </a:buClr>
              <a:buSzPct val="80000"/>
              <a:buFont typeface="Arial"/>
              <a:buChar char="○"/>
            </a:pPr>
            <a:r>
              <a:rPr sz="1100" b="0" i="0">
                <a:solidFill>
                  <a:srgbClr val="5B6472"/>
                </a:solidFill>
                <a:latin typeface="Calibri"/>
              </a:rPr>
              <a:t>Heuristic prioritization</a:t>
            </a:r>
          </a:p>
          <a:p>
            <a:pPr marL="228600" indent="-228600">
              <a:spcAft>
                <a:spcPts val="0"/>
              </a:spcAft>
              <a:buClr>
                <a:srgbClr val="C77700"/>
              </a:buClr>
              <a:buSzPct val="80000"/>
              <a:buFont typeface="Arial"/>
              <a:buChar char="○"/>
            </a:pPr>
            <a:r>
              <a:rPr sz="1100" b="0" i="0">
                <a:solidFill>
                  <a:srgbClr val="5B6472"/>
                </a:solidFill>
                <a:latin typeface="Calibri"/>
              </a:rPr>
              <a:t>Response recommendation</a:t>
            </a:r>
          </a:p>
          <a:p>
            <a:pPr marL="228600" indent="-228600">
              <a:spcAft>
                <a:spcPts val="0"/>
              </a:spcAft>
              <a:buClr>
                <a:srgbClr val="C77700"/>
              </a:buClr>
              <a:buSzPct val="80000"/>
              <a:buFont typeface="Arial"/>
              <a:buChar char="○"/>
            </a:pPr>
            <a:r>
              <a:rPr sz="1100" b="0" i="0">
                <a:solidFill>
                  <a:srgbClr val="5B6472"/>
                </a:solidFill>
                <a:latin typeface="Calibri"/>
              </a:rPr>
              <a:t>Dashboard</a:t>
            </a:r>
          </a:p>
          <a:p>
            <a:pPr marL="228600" indent="-228600">
              <a:spcAft>
                <a:spcPts val="0"/>
              </a:spcAft>
              <a:buClr>
                <a:srgbClr val="C77700"/>
              </a:buClr>
              <a:buSzPct val="80000"/>
              <a:buFont typeface="Arial"/>
              <a:buChar char="○"/>
            </a:pPr>
            <a:r>
              <a:rPr sz="1100" b="0" i="0">
                <a:solidFill>
                  <a:srgbClr val="5B6472"/>
                </a:solidFill>
                <a:latin typeface="Calibri"/>
              </a:rPr>
              <a:t>Final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622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EVALUATION PLAN FOR THE AI LAYER (NO ACCURACY FIGURES YET: ENGINE NOT BUILT)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22960" y="4754880"/>
          <a:ext cx="10561320" cy="12801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34640"/>
                <a:gridCol w="4709160"/>
                <a:gridCol w="301752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How it will be 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Test scenarios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Classification correctness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Rule output vs expected attack label per scenario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Brute force, port scan, DoS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Priority consistency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Same incident facts always yield the same priority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Repeated and edge-case inputs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API success rate / latency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2xx responses per request; time per analysis 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CRUD + analysis endpoints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BE5"/>
                      </a:solidFill>
                    </a:lnL>
                    <a:lnR w="9525">
                      <a:solidFill>
                        <a:srgbClr val="D5DBE5"/>
                      </a:solidFill>
                    </a:lnR>
                    <a:lnT w="9525">
                      <a:solidFill>
                        <a:srgbClr val="D5DBE5"/>
                      </a:solidFill>
                    </a:lnT>
                    <a:lnB w="9525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User Interface/ 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60" y="1810512"/>
            <a:ext cx="5212080" cy="38404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0120" y="1938528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1938528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" y="1938528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1810512"/>
            <a:ext cx="4297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Screenshot 1: Postman</a:t>
            </a:r>
            <a:r>
              <a:rPr sz="1200" b="0" i="0">
                <a:solidFill>
                  <a:srgbClr val="C9D3E6"/>
                </a:solidFill>
                <a:latin typeface="Calibri"/>
              </a:rPr>
              <a:t>  |  CREATE / READ API response</a:t>
            </a:r>
          </a:p>
        </p:txBody>
      </p:sp>
      <p:sp>
        <p:nvSpPr>
          <p:cNvPr id="13" name="Oval 12"/>
          <p:cNvSpPr/>
          <p:nvPr/>
        </p:nvSpPr>
        <p:spPr>
          <a:xfrm>
            <a:off x="3108960" y="2587752"/>
            <a:ext cx="640080" cy="64008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nd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777" y="2728569"/>
            <a:ext cx="358444" cy="3584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3227832"/>
            <a:ext cx="5212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9AA3B2"/>
                </a:solidFill>
                <a:latin typeface="Calibri"/>
              </a:rPr>
              <a:t>Paste screenshot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810512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172200" y="1810512"/>
            <a:ext cx="5212080" cy="38404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309360" y="1938528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1938528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5120" y="1938528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1810512"/>
            <a:ext cx="4297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Screenshot 2: MySQL</a:t>
            </a:r>
            <a:r>
              <a:rPr sz="1200" b="0" i="0">
                <a:solidFill>
                  <a:srgbClr val="C9D3E6"/>
                </a:solidFill>
                <a:latin typeface="Calibri"/>
              </a:rPr>
              <a:t>  |  Incident table with stored records</a:t>
            </a:r>
          </a:p>
        </p:txBody>
      </p:sp>
      <p:sp>
        <p:nvSpPr>
          <p:cNvPr id="22" name="Oval 21"/>
          <p:cNvSpPr/>
          <p:nvPr/>
        </p:nvSpPr>
        <p:spPr>
          <a:xfrm>
            <a:off x="8458200" y="2587752"/>
            <a:ext cx="640080" cy="64008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b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7" y="2728569"/>
            <a:ext cx="358444" cy="3584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72200" y="3227832"/>
            <a:ext cx="5212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9AA3B2"/>
                </a:solidFill>
                <a:latin typeface="Calibri"/>
              </a:rPr>
              <a:t>Paste screenshot here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959352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22960" y="3959352"/>
            <a:ext cx="5212080" cy="38404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60120" y="4087368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3000" y="4087368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4087368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3959352"/>
            <a:ext cx="4297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Screenshot 3: Spring Boot</a:t>
            </a:r>
            <a:r>
              <a:rPr sz="1200" b="0" i="0">
                <a:solidFill>
                  <a:srgbClr val="C9D3E6"/>
                </a:solidFill>
                <a:latin typeface="Calibri"/>
              </a:rPr>
              <a:t>  |  Startup and DB connection</a:t>
            </a:r>
          </a:p>
        </p:txBody>
      </p:sp>
      <p:sp>
        <p:nvSpPr>
          <p:cNvPr id="31" name="Oval 30"/>
          <p:cNvSpPr/>
          <p:nvPr/>
        </p:nvSpPr>
        <p:spPr>
          <a:xfrm>
            <a:off x="3108960" y="4736592"/>
            <a:ext cx="640080" cy="64008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eaf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777" y="4877409"/>
            <a:ext cx="358444" cy="3584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60" y="5376672"/>
            <a:ext cx="5212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9AA3B2"/>
                </a:solidFill>
                <a:latin typeface="Calibri"/>
              </a:rPr>
              <a:t>Paste screenshot here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959352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172200" y="3959352"/>
            <a:ext cx="5212080" cy="38404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6309360" y="4087368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92240" y="4087368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087368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3959352"/>
            <a:ext cx="42976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Screenshot 4: Postman</a:t>
            </a:r>
            <a:r>
              <a:rPr sz="1200" b="0" i="0">
                <a:solidFill>
                  <a:srgbClr val="C9D3E6"/>
                </a:solidFill>
                <a:latin typeface="Calibri"/>
              </a:rPr>
              <a:t>  |  UPDATE / DELETE verification</a:t>
            </a:r>
          </a:p>
        </p:txBody>
      </p:sp>
      <p:sp>
        <p:nvSpPr>
          <p:cNvPr id="40" name="Oval 39"/>
          <p:cNvSpPr/>
          <p:nvPr/>
        </p:nvSpPr>
        <p:spPr>
          <a:xfrm>
            <a:off x="8458200" y="4736592"/>
            <a:ext cx="640080" cy="640080"/>
          </a:xfrm>
          <a:prstGeom prst="ellipse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heck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017" y="4877409"/>
            <a:ext cx="358444" cy="3584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72200" y="5376672"/>
            <a:ext cx="5212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1">
                <a:solidFill>
                  <a:srgbClr val="9AA3B2"/>
                </a:solidFill>
                <a:latin typeface="Calibri"/>
              </a:rPr>
              <a:t>Paste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4206240" cy="422452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51560" y="2057400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611" y="2238451"/>
            <a:ext cx="460857" cy="4608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3063240"/>
            <a:ext cx="3749039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A rule-based AI layer on a working Spring Boot and MySQL backend turns raw incident records into </a:t>
            </a:r>
            <a:r>
              <a:rPr sz="1700" b="1" i="0">
                <a:solidFill>
                  <a:srgbClr val="FFD7D7"/>
                </a:solidFill>
                <a:latin typeface="Calibri"/>
              </a:rPr>
              <a:t>classified, prioritized, actionable responses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, with the rule trace that explains each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810512"/>
            <a:ext cx="61722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394960" y="2112264"/>
            <a:ext cx="713232" cy="71323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871" y="2269175"/>
            <a:ext cx="399409" cy="3994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1883664"/>
            <a:ext cx="4983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2E7D32"/>
                </a:solidFill>
                <a:latin typeface="Calibri"/>
              </a:rPr>
              <a:t>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49424"/>
            <a:ext cx="49834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Centralized incident backend: Spring Boot, MySQL, entity, repository, service and controller layers, CRUD REST APIs tested in Postman.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3246120"/>
            <a:ext cx="61722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394960" y="3547872"/>
            <a:ext cx="713232" cy="713232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item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871" y="3704783"/>
            <a:ext cx="399409" cy="3994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3319272"/>
            <a:ext cx="4983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Designed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85031"/>
            <a:ext cx="49834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AI workflow of rule-based reasoning, forward chaining, heuristic prioritization and constraint-based response; DFD and UML models complete.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4681728"/>
            <a:ext cx="617220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394960" y="4983480"/>
            <a:ext cx="713232" cy="7132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ck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871" y="5140391"/>
            <a:ext cx="399409" cy="3994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63640" y="4754880"/>
            <a:ext cx="4983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Calibri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120640"/>
            <a:ext cx="49834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Implement the AI engine, integrate the dashboard and evaluate the full workflow on brute-force, port-scan and DoS scenarios.</a:t>
            </a:r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  <p:cxnSp>
        <p:nvCxnSpPr>
          <p:cNvPr id="7" name="Connector 6"/>
          <p:cNvCxnSpPr/>
          <p:nvPr/>
        </p:nvCxnSpPr>
        <p:spPr>
          <a:xfrm>
            <a:off x="1463040" y="2286000"/>
            <a:ext cx="9281160" cy="0"/>
          </a:xfrm>
          <a:prstGeom prst="line">
            <a:avLst/>
          </a:prstGeom>
          <a:ln w="38100">
            <a:solidFill>
              <a:srgbClr val="D5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668780" y="1874519"/>
            <a:ext cx="822960" cy="82296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a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831" y="2055571"/>
            <a:ext cx="460857" cy="4608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2880360"/>
            <a:ext cx="25146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240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002060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2240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794760"/>
            <a:ext cx="224028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Rule base for brute force, port scan, DoS</a:t>
            </a:r>
          </a:p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Forward-chaining inference with rule trace</a:t>
            </a:r>
          </a:p>
        </p:txBody>
      </p:sp>
      <p:sp>
        <p:nvSpPr>
          <p:cNvPr id="14" name="Oval 13"/>
          <p:cNvSpPr/>
          <p:nvPr/>
        </p:nvSpPr>
        <p:spPr>
          <a:xfrm>
            <a:off x="4347972" y="1874519"/>
            <a:ext cx="822960" cy="822960"/>
          </a:xfrm>
          <a:prstGeom prst="ellipse">
            <a:avLst/>
          </a:prstGeom>
          <a:solidFill>
            <a:srgbClr val="69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o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023" y="2055571"/>
            <a:ext cx="460857" cy="46085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502152" y="2880360"/>
            <a:ext cx="25146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39312" y="2971800"/>
            <a:ext cx="2240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692D91"/>
                </a:solidFill>
                <a:latin typeface="Calibri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246120"/>
            <a:ext cx="2240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Priority &amp;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3794760"/>
            <a:ext cx="224028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Transparent heuristic criteria for severity</a:t>
            </a:r>
          </a:p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Constraint-based response recommendations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7027164" y="1874519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8215" y="2055571"/>
            <a:ext cx="460857" cy="460857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181344" y="2880360"/>
            <a:ext cx="25146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18504" y="2971800"/>
            <a:ext cx="2240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3246120"/>
            <a:ext cx="2240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Dashboard &amp; hardening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794760"/>
            <a:ext cx="224028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Dashboard connected to REST APIs</a:t>
            </a:r>
          </a:p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Input validation, authentication, authorization, security tests</a:t>
            </a:r>
          </a:p>
        </p:txBody>
      </p:sp>
      <p:sp>
        <p:nvSpPr>
          <p:cNvPr id="26" name="Oval 25"/>
          <p:cNvSpPr/>
          <p:nvPr/>
        </p:nvSpPr>
        <p:spPr>
          <a:xfrm>
            <a:off x="9706356" y="1874519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7407" y="2055571"/>
            <a:ext cx="460857" cy="460857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60536" y="2880360"/>
            <a:ext cx="25146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997696" y="2971800"/>
            <a:ext cx="2240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7696" y="3246120"/>
            <a:ext cx="2240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Calibri"/>
              </a:rPr>
              <a:t>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5128" y="3794760"/>
            <a:ext cx="224028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Scenario-based testing with measured results</a:t>
            </a:r>
          </a:p>
          <a:p>
            <a:pPr marL="228600" indent="-228600">
              <a:spcAft>
                <a:spcPts val="800"/>
              </a:spcAft>
              <a:buClr>
                <a:srgbClr val="C00000"/>
              </a:buClr>
              <a:buSzPct val="80000"/>
              <a:buFont typeface="Arial"/>
              <a:buChar char="▸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Capture real implementation screenshots</a:t>
            </a:r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87552" y="2066543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10512"/>
            <a:ext cx="964692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A. L. Buczak and E. Guven,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"A Survey of Data Mining and Machine Learning Methods for Cyber Security Intrusion Detection," </a:t>
            </a:r>
            <a:r>
              <a:rPr sz="1400" b="0" i="1">
                <a:solidFill>
                  <a:srgbClr val="002060"/>
                </a:solidFill>
                <a:latin typeface="Calibri"/>
              </a:rPr>
              <a:t>IEEE Communications Surveys &amp; Tutorials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, vol. 18, no. 2, pp. 1153-1176, 2016.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62072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87552" y="3118104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862072"/>
            <a:ext cx="964692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R. Sommer and V. Paxson,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"Outside the Closed World: On Using Machine Learning for Network Intrusion Detection," in </a:t>
            </a:r>
            <a:r>
              <a:rPr sz="1400" b="0" i="1">
                <a:solidFill>
                  <a:srgbClr val="002060"/>
                </a:solidFill>
                <a:latin typeface="Calibri"/>
              </a:rPr>
              <a:t>Proc. IEEE Symposium on Security and Privacy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, 2010, pp. 305-316.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13631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87552" y="4169663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913631"/>
            <a:ext cx="964692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A. Khraisat, I. Gondal, P. Vamplew and J. Kamruzzaman,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"Survey of Intrusion Detection Systems: Techniques, Datasets and Challenges," </a:t>
            </a:r>
            <a:r>
              <a:rPr sz="1400" b="0" i="1">
                <a:solidFill>
                  <a:srgbClr val="002060"/>
                </a:solidFill>
                <a:latin typeface="Calibri"/>
              </a:rPr>
              <a:t>Cybersecurity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, vol. 2, art. 20, 2019.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65192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BE5"/>
            </a:solidFill>
          </a:ln>
          <a:effectLst>
            <a:outerShdw blurRad="63500" dist="25400" dir="5400000" algn="t" rotWithShape="0">
              <a:srgbClr val="1F2A44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87552" y="5221224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965192"/>
            <a:ext cx="964692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S. J. Russell and P. Norvig,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/>
            </a:r>
            <a:r>
              <a:rPr sz="1400" b="0" i="1">
                <a:solidFill>
                  <a:srgbClr val="002060"/>
                </a:solidFill>
                <a:latin typeface="Calibri"/>
              </a:rPr>
              <a:t>Artificial Intelligence: A Modern Approach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, 4th ed. Pearson, 2020.</a:t>
            </a:r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61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 i="0">
                <a:solidFill>
                  <a:srgbClr val="002060"/>
                </a:solidFill>
                <a:latin typeface="Calibri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0561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 i="0">
                <a:solidFill>
                  <a:srgbClr val="5B6472"/>
                </a:solidFill>
                <a:latin typeface="Calibri"/>
              </a:rPr>
              <a:t>NILA ELA (241901074)   |   SREEDHARSHINI M (241901110)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9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0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420</Words>
  <Application>Microsoft Office PowerPoint</Application>
  <PresentationFormat>Widescreen</PresentationFormat>
  <Paragraphs>108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Abstract</vt:lpstr>
      <vt:lpstr>Literature Survey</vt:lpstr>
      <vt:lpstr>Literature Survey</vt:lpstr>
      <vt:lpstr>Research Gap/Existing System</vt:lpstr>
      <vt:lpstr>Proposed System System</vt:lpstr>
      <vt:lpstr>DFD Diagram</vt:lpstr>
      <vt:lpstr>Methodology/Work Flow Diagram</vt:lpstr>
      <vt:lpstr>Tools and Technologies</vt:lpstr>
      <vt:lpstr>List of Modules</vt:lpstr>
      <vt:lpstr>Module Description(For each Module separately)</vt:lpstr>
      <vt:lpstr>Module Description(For each Module separately)</vt:lpstr>
      <vt:lpstr>Results &amp; Discussion</vt:lpstr>
      <vt:lpstr>User Interface/ Screenshots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14</cp:revision>
  <dcterms:modified xsi:type="dcterms:W3CDTF">2026-10-13T05:55:04Z</dcterms:modified>
</cp:coreProperties>
</file>