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  <Override PartName="/ppt/theme/themeOverride9.xml" ContentType="application/vnd.openxmlformats-officedocument.themeOverride+xml"/>
  <Override PartName="/ppt/theme/themeOverride10.xml" ContentType="application/vnd.openxmlformats-officedocument.themeOverr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74" r:id="rId7"/>
    <p:sldId id="272" r:id="rId8"/>
    <p:sldId id="273" r:id="rId9"/>
    <p:sldId id="260" r:id="rId10"/>
    <p:sldId id="276" r:id="rId28"/>
    <p:sldId id="277" r:id="rId29"/>
    <p:sldId id="268" r:id="rId11"/>
    <p:sldId id="275" r:id="rId12"/>
    <p:sldId id="261" r:id="rId13"/>
    <p:sldId id="262" r:id="rId14"/>
    <p:sldId id="269" r:id="rId15"/>
    <p:sldId id="263" r:id="rId16"/>
    <p:sldId id="270" r:id="rId17"/>
    <p:sldId id="264" r:id="rId18"/>
    <p:sldId id="265" r:id="rId19"/>
    <p:sldId id="266" r:id="rId20"/>
    <p:sldId id="267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00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notesMaster" Target="notesMasters/notes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10.xml"/><Relationship Id="rId29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Milestones</c:v>
                </c:pt>
              </c:strCache>
            </c:strRef>
          </c:tx>
          <c:dPt>
            <c:idx val="0"/>
            <c:spPr>
              <a:solidFill>
                <a:srgbClr val="2E7D32"/>
              </a:solidFill>
            </c:spPr>
          </c:dPt>
          <c:dPt>
            <c:idx val="1"/>
            <c:spPr>
              <a:solidFill>
                <a:srgbClr val="D9DEE6"/>
              </a:solidFill>
            </c:spPr>
          </c:dPt>
          <c:cat>
            <c:strRef>
              <c:f>Sheet1!$A$2:$A$3</c:f>
              <c:strCache>
                <c:ptCount val="2"/>
                <c:pt idx="0">
                  <c:v>Completed</c:v>
                </c:pt>
                <c:pt idx="1">
                  <c:v>Pending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Milestones</c:v>
                </c:pt>
              </c:strCache>
            </c:strRef>
          </c:tx>
          <c:dPt>
            <c:idx val="0"/>
            <c:spPr>
              <a:solidFill>
                <a:srgbClr val="2E7D32"/>
              </a:solidFill>
            </c:spPr>
          </c:dPt>
          <c:dPt>
            <c:idx val="1"/>
            <c:spPr>
              <a:solidFill>
                <a:srgbClr val="D9DEE6"/>
              </a:solidFill>
            </c:spPr>
          </c:dPt>
          <c:cat>
            <c:strRef>
              <c:f>Sheet1!$A$2:$A$3</c:f>
              <c:strCache>
                <c:ptCount val="2"/>
                <c:pt idx="0">
                  <c:v>Completed</c:v>
                </c:pt>
                <c:pt idx="1">
                  <c:v>Pending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Sheet1!$A$2:$A$6</c:f>
              <c:strCache>
                <c:ptCount val="5"/>
                <c:pt idx="0">
                  <c:v>Testing</c:v>
                </c:pt>
                <c:pt idx="1">
                  <c:v>M4 Dashboard</c:v>
                </c:pt>
                <c:pt idx="2">
                  <c:v>M3 Priority/Resp.</c:v>
                </c:pt>
                <c:pt idx="3">
                  <c:v>M2 AI analysis</c:v>
                </c:pt>
                <c:pt idx="4">
                  <c:v>M1 Backend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Pending</c:v>
                </c:pt>
              </c:strCache>
            </c:strRef>
          </c:tx>
          <c:spPr>
            <a:solidFill>
              <a:srgbClr val="C77700"/>
            </a:solidFill>
          </c:spPr>
          <c:cat>
            <c:strRef>
              <c:f>Sheet1!$A$2:$A$6</c:f>
              <c:strCache>
                <c:ptCount val="5"/>
                <c:pt idx="0">
                  <c:v>Testing</c:v>
                </c:pt>
                <c:pt idx="1">
                  <c:v>M4 Dashboard</c:v>
                </c:pt>
                <c:pt idx="2">
                  <c:v>M3 Priority/Resp.</c:v>
                </c:pt>
                <c:pt idx="3">
                  <c:v>M2 AI analysis</c:v>
                </c:pt>
                <c:pt idx="4">
                  <c:v>M1 Backend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dLbls>
          <c:numFmt formatCode="0;-0;;@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BE5"/>
            </a:solidFill>
          </a:ln>
        </c:spPr>
        <c:txPr>
          <a:bodyPr/>
          <a:lstStyle/>
          <a:p>
            <a:pPr>
              <a:defRPr sz="10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B6472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0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7.png"/><Relationship Id="rId9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6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7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8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9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16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17.png"/><Relationship Id="rId8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0.png"/><Relationship Id="rId4" Type="http://schemas.openxmlformats.org/officeDocument/2006/relationships/image" Target="../media/image35.png"/><Relationship Id="rId5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:\Users\REC\Downloads\REC_Logo_Color_PNG_RGB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822960" y="987552"/>
            <a:ext cx="105613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200" b="1" i="0">
                <a:solidFill>
                  <a:srgbClr val="002060"/>
                </a:solidFill>
                <a:latin typeface="Calibri"/>
              </a:rPr>
              <a:t>Department of Computer Science and Engineering (Cyber Security)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417320"/>
            <a:ext cx="1056132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  <a:latin typeface="Calibri"/>
              </a:rPr>
              <a:t>CS23533 - Foundations of Artificial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10512"/>
            <a:ext cx="105613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Calibri"/>
              </a:rPr>
              <a:t>2026-2027  |  Review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697480"/>
            <a:ext cx="1056132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3600" b="1" i="0">
                <a:solidFill>
                  <a:srgbClr val="692D91"/>
                </a:solidFill>
                <a:latin typeface="Calibri"/>
              </a:rPr>
              <a:t>AI-POWERED INCIDENT RESPONSE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10128"/>
            <a:ext cx="10561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500" b="0" i="1">
                <a:solidFill>
                  <a:srgbClr val="5B6472"/>
                </a:solidFill>
                <a:latin typeface="Calibri"/>
              </a:rPr>
              <a:t>Rule-based expert system that classifies, prioritizes and recommends responses for cybersecurity incidents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767" y="393192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56919" y="3977639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itema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445" y="4068165"/>
            <a:ext cx="230428" cy="2304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32407" y="3931920"/>
            <a:ext cx="18745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Rule-based reasoning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35527" y="393192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3608679" y="3977639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in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9205" y="4068165"/>
            <a:ext cx="230428" cy="2304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084167" y="3931920"/>
            <a:ext cx="18745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Forward chaining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7287" y="393192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260439" y="3977639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o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965" y="4068165"/>
            <a:ext cx="230428" cy="2304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35927" y="3931920"/>
            <a:ext cx="18745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Heuristic prioritization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39047" y="393192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912199" y="3977639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alanc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2725" y="4068165"/>
            <a:ext cx="230428" cy="2304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387687" y="3931920"/>
            <a:ext cx="18745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Constraint-based response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84632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1005840" y="5074920"/>
            <a:ext cx="685800" cy="6858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user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6716" y="5225796"/>
            <a:ext cx="384048" cy="38404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828800" y="4956048"/>
            <a:ext cx="310896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Calibri"/>
              </a:rPr>
              <a:t>Dr. P. Tamilselvi, Ph.D.</a:t>
            </a:r>
          </a:p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Professor &amp; Head of the Department</a:t>
            </a:r>
          </a:p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Dept. of CSE (Cyber Security)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78040" y="484632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360920" y="5074920"/>
            <a:ext cx="685800" cy="6858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task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1796" y="5225796"/>
            <a:ext cx="384048" cy="38404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183879" y="4956048"/>
            <a:ext cx="310896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Calibri"/>
              </a:rPr>
              <a:t>Team members</a:t>
            </a:r>
          </a:p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NILA ELA  (241901074)</a:t>
            </a:r>
          </a:p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SREEDHARSHINI M  (241901110)</a:t>
            </a:r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Problem Statement and Motivation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INCOMING ALERT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0120" y="2212848"/>
            <a:ext cx="603504" cy="60350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e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890" y="2345618"/>
            <a:ext cx="337962" cy="3379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1640" y="2103120"/>
            <a:ext cx="24688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Brute force</a:t>
            </a:r>
          </a:p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Repeated login attempts against user and admin accounts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526280" y="2212848"/>
            <a:ext cx="603504" cy="60350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ada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9050" y="2345618"/>
            <a:ext cx="337962" cy="33796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57800" y="2103120"/>
            <a:ext cx="24688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Port scanning</a:t>
            </a:r>
          </a:p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Probing hosts to discover open ports and exposed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0574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092440" y="2212848"/>
            <a:ext cx="603504" cy="60350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o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5210" y="2345618"/>
            <a:ext cx="337962" cy="33796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23959" y="2103120"/>
            <a:ext cx="24688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Denial-of-service</a:t>
            </a:r>
          </a:p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Flooding a service until it can no longer answer real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154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WHY MANUAL HANDLING BREAKS DOWN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456432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9525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0120" y="3493008"/>
            <a:ext cx="9144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Calibri"/>
              </a:rPr>
              <a:t>01</a:t>
            </a:r>
          </a:p>
        </p:txBody>
      </p:sp>
      <p:sp>
        <p:nvSpPr>
          <p:cNvPr id="23" name="Oval 22"/>
          <p:cNvSpPr/>
          <p:nvPr/>
        </p:nvSpPr>
        <p:spPr>
          <a:xfrm>
            <a:off x="3566160" y="356616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el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6744" y="3666744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60120" y="3959352"/>
            <a:ext cx="315468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Alert overload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Every alert needs an analyst to read, classify and rank it before anyone acts.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456432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9525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26280" y="3493008"/>
            <a:ext cx="9144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Calibri"/>
              </a:rPr>
              <a:t>02</a:t>
            </a:r>
          </a:p>
        </p:txBody>
      </p:sp>
      <p:sp>
        <p:nvSpPr>
          <p:cNvPr id="28" name="Oval 27"/>
          <p:cNvSpPr/>
          <p:nvPr/>
        </p:nvSpPr>
        <p:spPr>
          <a:xfrm>
            <a:off x="7132320" y="356616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lo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2904" y="3666744"/>
            <a:ext cx="256032" cy="2560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26280" y="3959352"/>
            <a:ext cx="315468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Slow, inconsistent triage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Critical incidents wait in the same queue as low-risk noise; ranking depends on who is on shift.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3456432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9525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92440" y="3493008"/>
            <a:ext cx="9144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Calibr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698480" y="356616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uzzl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9063" y="3666744"/>
            <a:ext cx="256032" cy="2560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092440" y="3959352"/>
            <a:ext cx="315468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Fragmented tooling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Detection, incident records and response guidance live in separate tools and workflows.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074920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1005840" y="5257800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lag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6599" y="5388559"/>
            <a:ext cx="332841" cy="33284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783080" y="5102352"/>
            <a:ext cx="946404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D7D7"/>
                </a:solidFill>
                <a:latin typeface="Calibri"/>
              </a:rPr>
              <a:t>Problem: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existing systems detect or record incidents but give limited prioritization and no explainable response guidance.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D7D7"/>
                </a:solidFill>
                <a:latin typeface="Calibri"/>
              </a:rPr>
              <a:t>Motivation: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one system that analyzes every incident, ranks it, and recommends a response with the rules that justify it.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Objectives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993392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32688" y="1938528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19072" y="1975104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sp>
        <p:nvSpPr>
          <p:cNvPr id="10" name="Oval 9"/>
          <p:cNvSpPr/>
          <p:nvPr/>
        </p:nvSpPr>
        <p:spPr>
          <a:xfrm>
            <a:off x="1431036" y="2377440"/>
            <a:ext cx="777240" cy="7772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b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028" y="2548432"/>
            <a:ext cx="435254" cy="4352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218688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700" b="1" i="0">
                <a:solidFill>
                  <a:srgbClr val="002060"/>
                </a:solidFill>
                <a:latin typeface="Calibri"/>
              </a:rPr>
              <a:t>Centralize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566160"/>
            <a:ext cx="1773936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Collect, store and manage cybersecurity incident records in one backend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553712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Spring Boot + MySQL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3512" y="1828800"/>
            <a:ext cx="1993392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3063240" y="1938528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9624" y="1975104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18" name="Oval 17"/>
          <p:cNvSpPr/>
          <p:nvPr/>
        </p:nvSpPr>
        <p:spPr>
          <a:xfrm>
            <a:off x="3561588" y="2377440"/>
            <a:ext cx="777240" cy="7772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itema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2580" y="2548432"/>
            <a:ext cx="435254" cy="43525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044952" y="3218688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700" b="1" i="0">
                <a:solidFill>
                  <a:srgbClr val="002060"/>
                </a:solidFill>
                <a:latin typeface="Calibri"/>
              </a:rPr>
              <a:t>Classify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566160"/>
            <a:ext cx="1773936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Classify each incident from its facts using rule-based AI reasoning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90672" y="4553712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Rules + forward chaining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4064" y="1828800"/>
            <a:ext cx="1993392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5193792" y="1938528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0176" y="1975104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26" name="Oval 25"/>
          <p:cNvSpPr/>
          <p:nvPr/>
        </p:nvSpPr>
        <p:spPr>
          <a:xfrm>
            <a:off x="5692140" y="2377440"/>
            <a:ext cx="777240" cy="7772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or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3132" y="2548432"/>
            <a:ext cx="435254" cy="43525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175504" y="3218688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700" b="1" i="0">
                <a:solidFill>
                  <a:srgbClr val="002060"/>
                </a:solidFill>
                <a:latin typeface="Calibri"/>
              </a:rPr>
              <a:t>Prioritize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3566160"/>
            <a:ext cx="1773936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Determine severity and priority with heuristic evaluation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21224" y="4553712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Heuristic scoring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14616" y="1828800"/>
            <a:ext cx="1993392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7324344" y="1938528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0728" y="1975104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34" name="Oval 33"/>
          <p:cNvSpPr/>
          <p:nvPr/>
        </p:nvSpPr>
        <p:spPr>
          <a:xfrm>
            <a:off x="7822692" y="2377440"/>
            <a:ext cx="777240" cy="7772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alanc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3684" y="2548432"/>
            <a:ext cx="435254" cy="43525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06056" y="3218688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700" b="1" i="0">
                <a:solidFill>
                  <a:srgbClr val="002060"/>
                </a:solidFill>
                <a:latin typeface="Calibri"/>
              </a:rPr>
              <a:t>Recommend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24344" y="3566160"/>
            <a:ext cx="1773936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Select response actions that satisfy the incident's conditions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51776" y="4553712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Constraint satisfaction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45168" y="1828800"/>
            <a:ext cx="1993392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9454896" y="1938528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41280" y="1975104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42" name="Oval 41"/>
          <p:cNvSpPr/>
          <p:nvPr/>
        </p:nvSpPr>
        <p:spPr>
          <a:xfrm>
            <a:off x="9953244" y="2377440"/>
            <a:ext cx="777240" cy="7772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dash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4236" y="2548432"/>
            <a:ext cx="435254" cy="43525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436608" y="3218688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700" b="1" i="0">
                <a:solidFill>
                  <a:srgbClr val="002060"/>
                </a:solidFill>
                <a:latin typeface="Calibri"/>
              </a:rPr>
              <a:t>Monitor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6" y="3566160"/>
            <a:ext cx="1773936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Show incidents, priorities and AI recommendations on a web dashboard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82328" y="4553712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Web dashboard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" y="5138928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987552" y="5303520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flag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2276" y="5428244"/>
            <a:ext cx="317479" cy="31747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737360" y="5138928"/>
            <a:ext cx="955548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D7D7"/>
                </a:solidFill>
                <a:latin typeface="Calibri"/>
              </a:rPr>
              <a:t>Expected outcomes: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every incident receives a class, a priority level and a valid response with its rule trace; identical facts always give the same priority; analysts see all incidents in one place.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B9E4BE"/>
                </a:solidFill>
                <a:latin typeface="Calibri"/>
              </a:rPr>
              <a:t>Completed so far: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objective 1 (centralized backend, CRUD APIs tested in Postman).</a:t>
            </a:r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Project Progress Since Review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3017520" cy="4224528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60120" y="19202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REVIEW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2743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Concept and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2788920" cy="3200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5B6472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Problem statement and objectives</a:t>
            </a:r>
          </a:p>
          <a:p>
            <a:pPr marL="228600" indent="-228600">
              <a:spcAft>
                <a:spcPts val="600"/>
              </a:spcAft>
              <a:buClr>
                <a:srgbClr val="5B6472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Literature survey of 4 sources</a:t>
            </a:r>
          </a:p>
          <a:p>
            <a:pPr marL="228600" indent="-228600">
              <a:spcAft>
                <a:spcPts val="600"/>
              </a:spcAft>
              <a:buClr>
                <a:srgbClr val="5B6472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Proposed system architecture</a:t>
            </a:r>
          </a:p>
          <a:p>
            <a:pPr marL="228600" indent="-228600">
              <a:spcAft>
                <a:spcPts val="600"/>
              </a:spcAft>
              <a:buClr>
                <a:srgbClr val="5B6472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Methodology: rules, forward chaining, heuristics, constraints</a:t>
            </a:r>
          </a:p>
          <a:p>
            <a:pPr marL="228600" indent="-228600">
              <a:spcAft>
                <a:spcPts val="600"/>
              </a:spcAft>
              <a:buClr>
                <a:srgbClr val="5B6472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Sample incident priority chart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13632" y="3749039"/>
            <a:ext cx="292608" cy="34747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810512"/>
            <a:ext cx="406908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434840" y="19202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SINCE REVIEW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86000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Design 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06040"/>
            <a:ext cx="384048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3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DFD Level 0, use case, activity, class and sequence diagrams</a:t>
            </a:r>
          </a:p>
          <a:p>
            <a:pPr marL="228600" indent="-228600">
              <a:spcAft>
                <a:spcPts val="3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Threat model, attack surfaces and security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611880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Implementation completed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931920"/>
            <a:ext cx="3840480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1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Spring Boot project configured</a:t>
            </a:r>
          </a:p>
          <a:p>
            <a:pPr marL="228600" indent="-228600">
              <a:spcAft>
                <a:spcPts val="1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MySQL database created</a:t>
            </a:r>
          </a:p>
          <a:p>
            <a:pPr marL="228600" indent="-228600">
              <a:spcAft>
                <a:spcPts val="1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Incident entity and database integration</a:t>
            </a:r>
          </a:p>
          <a:p>
            <a:pPr marL="228600" indent="-228600">
              <a:spcAft>
                <a:spcPts val="1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Repository, service and controller layers</a:t>
            </a:r>
          </a:p>
          <a:p>
            <a:pPr marL="228600" indent="-228600">
              <a:spcAft>
                <a:spcPts val="1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CRUD REST APIs developed</a:t>
            </a:r>
          </a:p>
          <a:p>
            <a:pPr marL="228600" indent="-228600">
              <a:spcAft>
                <a:spcPts val="1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APIs tested successfully in Postman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1810512"/>
            <a:ext cx="283464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41080" y="1874519"/>
            <a:ext cx="26517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Calibri"/>
              </a:rPr>
              <a:t>Current status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8641080" y="2194560"/>
          <a:ext cx="2651760" cy="19202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641080" y="2880360"/>
            <a:ext cx="26517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Calibri"/>
              </a:rPr>
              <a:t>6/11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206240"/>
            <a:ext cx="2560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milestones complete (55%)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4572000"/>
            <a:ext cx="2560320" cy="1325880"/>
          </a:xfrm>
          <a:prstGeom prst="roundRect">
            <a:avLst>
              <a:gd name="adj" fmla="val 8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778240" y="4599432"/>
            <a:ext cx="2377440" cy="12801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C77700"/>
                </a:solidFill>
                <a:latin typeface="Calibri"/>
              </a:rPr>
              <a:t>Next: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AI rule engine, heuristic prioritization, response recommendation, dashboard, final testing</a:t>
            </a:r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28800"/>
          <a:ext cx="10561320" cy="4023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48640"/>
                <a:gridCol w="1417320"/>
                <a:gridCol w="2926080"/>
                <a:gridCol w="2011680"/>
                <a:gridCol w="1920240"/>
                <a:gridCol w="17373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S.No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Author(s) &amp; 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Paper title &amp; venue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Methodology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Takeaway for this project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Buczak &amp; Guven</a:t>
                      </a: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  <a:b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</a:b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(2016)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 Survey of Data Mining and Machine Learning Methods for Cyber Security Intrusion Detection</a:t>
                      </a:r>
                      <a: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  <a:t/>
                      </a:r>
                      <a:b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</a:br>
                      <a: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  <a:t>IEEE Commun. Surveys &amp; Tutorials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Survey of data-mining and ML methods for misuse and anomaly detection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Performance depends on the data, features and attack context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Favor transparent, attack-specific rules for triage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Sommer &amp; Paxson</a:t>
                      </a: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  <a:b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</a:b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(2010)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Outside the Closed World: On Using Machine Learning for Network Intrusion Detection</a:t>
                      </a:r>
                      <a: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  <a:t/>
                      </a:r>
                      <a:b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</a:br>
                      <a: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  <a:t>IEEE Symp. Security &amp; Privacy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Analysis of why ML anomaly detection struggles in operational networks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High cost of errors, diverse traffic and a semantic gap between alerts and meaning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Every decision must be explainable to the analyst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Khraisat et al.</a:t>
                      </a: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  <a:b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</a:b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(2019)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Survey of Intrusion Detection Systems: Techniques, Datasets and Challenges</a:t>
                      </a:r>
                      <a: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  <a:t/>
                      </a:r>
                      <a:b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</a:br>
                      <a: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  <a:t>Cybersecurity (Springer)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Review of signature-based and anomaly-based IDS and benchmark datasets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No single technique suits every attack; dataset choice affects 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Per-attack rules feeding one shared priority 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10512"/>
          <a:ext cx="10561320" cy="11887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48640"/>
                <a:gridCol w="1417320"/>
                <a:gridCol w="2926080"/>
                <a:gridCol w="2011680"/>
                <a:gridCol w="1920240"/>
                <a:gridCol w="17373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S.No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Author(s) &amp; 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Book &amp; publisher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Methodology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Takeaway for this project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Russell &amp; Norvig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Artificial Intelligence: A Modern Approach</a:t>
                      </a:r>
                      <a: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  <a:t/>
                      </a:r>
                      <a:b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</a:br>
                      <a: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  <a:t>Pearson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Knowledge representation, forward chaining, heuristic search, constraint satisfaction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General methods; cybersecurity rules must be written for the domain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Source of the four AI techniques used here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31546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COVERAGE MATRIX: WHERE THIS PROJECT FITS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3474720"/>
          <a:ext cx="10561320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14600"/>
                <a:gridCol w="1554480"/>
                <a:gridCol w="155448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Attack detection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ML-based analysis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Rule-based reasoning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Incident prioritization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Response recommendation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[1] Buczak &amp; Guven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[2] Sommer &amp; Paxson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[3] Khraisat et al.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[4] Russell &amp; Norvig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</a:rPr>
                        <a:t>Proposed system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1">
                          <a:solidFill>
                            <a:srgbClr val="5B6472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D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833872"/>
            <a:ext cx="10561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● covered   – not addressed   |   [3] covers rule-based reasoning through signature-based IDS</a:t>
            </a:r>
          </a:p>
        </p:txBody>
      </p:sp>
    </p:spTree>
    <p:extLst>
      <p:ext uri="{BB962C8B-B14F-4D97-AF65-F5344CB8AC3E}">
        <p14:creationId xmlns:p14="http://schemas.microsoft.com/office/powerpoint/2010/main" val="4242195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Research Gap and Project Response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2395728" cy="3346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22960" y="1810512"/>
            <a:ext cx="2395728" cy="105156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0120" y="19385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2596896" y="190195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ook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503" y="200655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359152"/>
            <a:ext cx="2121408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Literature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17520"/>
            <a:ext cx="2167128" cy="2926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0206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Data-mining and ML methods dominate intrusion detection [1]</a:t>
            </a:r>
          </a:p>
          <a:p>
            <a:pPr marL="228600" indent="-228600">
              <a:spcAft>
                <a:spcPts val="800"/>
              </a:spcAft>
              <a:buClr>
                <a:srgbClr val="00206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ML faces error cost, traffic diversity and a semantic gap in practice [2]</a:t>
            </a:r>
          </a:p>
          <a:p>
            <a:pPr marL="228600" indent="-228600">
              <a:spcAft>
                <a:spcPts val="800"/>
              </a:spcAft>
              <a:buClr>
                <a:srgbClr val="00206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IDS rely on signature or anomaly methods tested on benchmark datasets [3]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55264" y="2176272"/>
            <a:ext cx="246888" cy="320040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38728" y="1810512"/>
            <a:ext cx="2395728" cy="3346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538728" y="1810512"/>
            <a:ext cx="2395728" cy="105156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3675888" y="19385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5312664" y="190195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warn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271" y="2006559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75888" y="2359152"/>
            <a:ext cx="2121408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3017520"/>
            <a:ext cx="2167128" cy="2926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Results depend on data, features and attack context</a:t>
            </a:r>
          </a:p>
          <a:p>
            <a:pPr marL="228600" indent="-228600">
              <a:spcAft>
                <a:spcPts val="8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No single technique suits every attack type</a:t>
            </a:r>
          </a:p>
          <a:p>
            <a:pPr marL="228600" indent="-228600">
              <a:spcAft>
                <a:spcPts val="8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Output stops at detection, with little prioritization or response guidance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71032" y="2176272"/>
            <a:ext cx="246888" cy="32004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54496" y="1810512"/>
            <a:ext cx="2395728" cy="3346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254496" y="1810512"/>
            <a:ext cx="2395728" cy="1051560"/>
          </a:xfrm>
          <a:prstGeom prst="roundRect">
            <a:avLst>
              <a:gd name="adj" fmla="val 8000"/>
            </a:avLst>
          </a:prstGeom>
          <a:solidFill>
            <a:srgbClr val="69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391656" y="19385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692D91"/>
                </a:solidFill>
                <a:latin typeface="Calibri"/>
              </a:rPr>
              <a:t>3</a:t>
            </a:r>
          </a:p>
        </p:txBody>
      </p:sp>
      <p:sp>
        <p:nvSpPr>
          <p:cNvPr id="26" name="Oval 25"/>
          <p:cNvSpPr/>
          <p:nvPr/>
        </p:nvSpPr>
        <p:spPr>
          <a:xfrm>
            <a:off x="8028432" y="190195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earch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3039" y="2006559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391656" y="2359152"/>
            <a:ext cx="2121408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Refined research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3063240"/>
            <a:ext cx="2029968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1">
                <a:solidFill>
                  <a:srgbClr val="1F2937"/>
                </a:solidFill>
                <a:latin typeface="Calibri"/>
              </a:rPr>
              <a:t>No lightweight, explainable layer that turns a recorded incident into class, priority and a valid response with a rule trace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686800" y="2176272"/>
            <a:ext cx="246888" cy="320040"/>
          </a:xfrm>
          <a:prstGeom prst="rightArrow">
            <a:avLst/>
          </a:prstGeom>
          <a:solidFill>
            <a:srgbClr val="69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70264" y="1810512"/>
            <a:ext cx="2395728" cy="3346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8970264" y="1810512"/>
            <a:ext cx="2395728" cy="105156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107424" y="19385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10744200" y="190195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heck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8807" y="2006559"/>
            <a:ext cx="266273" cy="2662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07424" y="2359152"/>
            <a:ext cx="2121408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Progress toward solution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017520"/>
            <a:ext cx="2167128" cy="2926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Centralized Spring Boot + MySQL incident backend built</a:t>
            </a:r>
          </a:p>
          <a:p>
            <a:pPr marL="228600" indent="-228600">
              <a:spcAft>
                <a:spcPts val="8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CRUD REST APIs tested in Postman</a:t>
            </a:r>
          </a:p>
          <a:p>
            <a:pPr marL="228600" indent="-228600">
              <a:spcAft>
                <a:spcPts val="8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AI workflow designed: rules, forward chaining, heuristics, constraints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26694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6472"/>
                </a:solidFill>
                <a:latin typeface="Calibri"/>
              </a:rPr>
              <a:t>RESPONSE PATH: BUILT VS NEXT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550408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Spring Boot + MySQL backend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282696" y="5650992"/>
            <a:ext cx="182880" cy="256032"/>
          </a:xfrm>
          <a:prstGeom prst="rightArrow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02152" y="5550408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Rules + forward chaining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5641848" y="5650992"/>
            <a:ext cx="182880" cy="256032"/>
          </a:xfrm>
          <a:prstGeom prst="rightArrow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861304" y="555040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Heuristic priority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7589519" y="5650992"/>
            <a:ext cx="182880" cy="256032"/>
          </a:xfrm>
          <a:prstGeom prst="rightArrow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808975" y="5550408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Constraint-based response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10040111" y="5650992"/>
            <a:ext cx="182880" cy="256032"/>
          </a:xfrm>
          <a:prstGeom prst="rightArrow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259567" y="5550408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System Architecture / Proposed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10561320" cy="932688"/>
          </a:xfrm>
          <a:prstGeom prst="roundRect">
            <a:avLst>
              <a:gd name="adj" fmla="val 8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32688" y="1993392"/>
            <a:ext cx="548640" cy="548640"/>
          </a:xfrm>
          <a:prstGeom prst="ellipse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88" y="2114092"/>
            <a:ext cx="307238" cy="3072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4480" y="1856231"/>
            <a:ext cx="169164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Presentation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938528"/>
            <a:ext cx="38404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337560" y="1938528"/>
            <a:ext cx="37490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Security analyst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Submits and reviews incidents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938528"/>
            <a:ext cx="38404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52360" y="1938528"/>
            <a:ext cx="37490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Web dashboard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Incidents, priority, recommended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52928"/>
            <a:ext cx="10561320" cy="932688"/>
          </a:xfrm>
          <a:prstGeom prst="roundRect">
            <a:avLst>
              <a:gd name="adj" fmla="val 8000"/>
            </a:avLst>
          </a:prstGeom>
          <a:solidFill>
            <a:srgbClr val="E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32688" y="3035808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d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388" y="3156508"/>
            <a:ext cx="307238" cy="3072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54480" y="2898648"/>
            <a:ext cx="169164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Application</a:t>
            </a:r>
            <a:br>
              <a:rPr sz="1300" b="1" i="0">
                <a:solidFill>
                  <a:srgbClr val="002060"/>
                </a:solidFill>
                <a:latin typeface="Calibri"/>
              </a:rPr>
            </a:br>
            <a:r>
              <a:rPr sz="1300" b="1" i="0">
                <a:solidFill>
                  <a:srgbClr val="002060"/>
                </a:solidFill>
                <a:latin typeface="Calibri"/>
              </a:rPr>
              <a:t>(Spring Boot REST)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980944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337560" y="2980944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Controller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REST endpoints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02352" y="3319272"/>
            <a:ext cx="21945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349240" y="2980944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394959" y="2980944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Service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Business logic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59752" y="3319272"/>
            <a:ext cx="21945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06640" y="2980944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452360" y="2980944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Repository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Data access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17152" y="3319272"/>
            <a:ext cx="21945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464040" y="2980944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509760" y="2980944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Entity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Incident model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895344"/>
            <a:ext cx="10561320" cy="932688"/>
          </a:xfrm>
          <a:prstGeom prst="roundRect">
            <a:avLst>
              <a:gd name="adj" fmla="val 8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32688" y="4078224"/>
            <a:ext cx="548640" cy="548640"/>
          </a:xfrm>
          <a:prstGeom prst="ellipse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388" y="4198924"/>
            <a:ext cx="307238" cy="30723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554480" y="3941063"/>
            <a:ext cx="169164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AI analysis engine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1840" y="4023359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337560" y="4023359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Rule base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IF-THEN knowledge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102352" y="4361688"/>
            <a:ext cx="21945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349240" y="4023359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394959" y="4023359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Inference engine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Forward chaining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159752" y="4361688"/>
            <a:ext cx="21945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406640" y="4023359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452360" y="4023359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Heuristic evaluator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Severity &amp; priority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217152" y="4361688"/>
            <a:ext cx="21945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464040" y="4023359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509760" y="4023359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Constraint solver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Response selection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4937760"/>
            <a:ext cx="10561320" cy="932688"/>
          </a:xfrm>
          <a:prstGeom prst="roundRect">
            <a:avLst>
              <a:gd name="adj" fmla="val 8000"/>
            </a:avLst>
          </a:prstGeom>
          <a:solidFill>
            <a:srgbClr val="E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932688" y="512064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db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88" y="5241340"/>
            <a:ext cx="307238" cy="30723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54480" y="4983480"/>
            <a:ext cx="169164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Data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1840" y="5065776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337560" y="5065776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Incident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Core record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49240" y="5065776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394959" y="5065776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IncidentAnalysis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Class, score, response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06640" y="5065776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452360" y="5065776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ResponseAction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Action catalogue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464040" y="5065776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509760" y="5065776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SystemLog / User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Audit and access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" y="605332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40280" y="605332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DFD Diagram (Level 0)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717804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1856231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5B6472"/>
                </a:solidFill>
                <a:latin typeface="Calibri"/>
              </a:rPr>
              <a:t>LEVEL 0 (CONTEXT)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148840"/>
            <a:ext cx="2286000" cy="566928"/>
          </a:xfrm>
          <a:prstGeom prst="roundRect">
            <a:avLst>
              <a:gd name="adj" fmla="val 8000"/>
            </a:avLst>
          </a:prstGeom>
          <a:solidFill>
            <a:srgbClr val="692D91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Security logs / external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33756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AI-Powered Incident Response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474720"/>
            <a:ext cx="1417320" cy="7315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User</a:t>
            </a:r>
            <a:br>
              <a:rPr sz="1200" b="1" i="0">
                <a:solidFill>
                  <a:srgbClr val="FFFFFF"/>
                </a:solidFill>
                <a:latin typeface="Calibri"/>
              </a:rPr>
            </a:br>
            <a:r>
              <a:rPr sz="1200" b="1" i="0">
                <a:solidFill>
                  <a:srgbClr val="FFFFFF"/>
                </a:solidFill>
                <a:latin typeface="Calibri"/>
              </a:rPr>
              <a:t>(Security analyst)</a:t>
            </a:r>
          </a:p>
        </p:txBody>
      </p:sp>
      <p:sp>
        <p:nvSpPr>
          <p:cNvPr id="12" name="Can 11"/>
          <p:cNvSpPr/>
          <p:nvPr/>
        </p:nvSpPr>
        <p:spPr>
          <a:xfrm>
            <a:off x="6537960" y="3246120"/>
            <a:ext cx="1325880" cy="1188720"/>
          </a:xfrm>
          <a:prstGeom prst="can">
            <a:avLst/>
          </a:prstGeom>
          <a:solidFill>
            <a:srgbClr val="2E7D32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MySQL</a:t>
            </a:r>
            <a:br>
              <a:rPr sz="1300" b="1" i="0">
                <a:solidFill>
                  <a:srgbClr val="FFFFFF"/>
                </a:solidFill>
                <a:latin typeface="Calibri"/>
              </a:rPr>
            </a:br>
            <a:r>
              <a:rPr sz="13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5257800"/>
            <a:ext cx="2286000" cy="566928"/>
          </a:xfrm>
          <a:prstGeom prst="roundRect">
            <a:avLst>
              <a:gd name="adj" fmla="val 8000"/>
            </a:avLst>
          </a:prstGeom>
          <a:solidFill>
            <a:srgbClr val="C7770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 analysis engine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89120" y="2715768"/>
            <a:ext cx="0" cy="621792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462272" y="2880360"/>
            <a:ext cx="256032" cy="25603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77440" y="3657600"/>
            <a:ext cx="685800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587752" y="3346704"/>
            <a:ext cx="256032" cy="25603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377440" y="4041648"/>
            <a:ext cx="685800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587752" y="4114800"/>
            <a:ext cx="256032" cy="25603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15000" y="3657600"/>
            <a:ext cx="822960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715000" y="4041648"/>
            <a:ext cx="822960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998464" y="3346704"/>
            <a:ext cx="256032" cy="25603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343400"/>
            <a:ext cx="0" cy="91440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749039" y="4663440"/>
            <a:ext cx="256032" cy="25603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4663440" y="4343400"/>
            <a:ext cx="0" cy="91440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773168" y="4663440"/>
            <a:ext cx="256032" cy="25603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1810512"/>
            <a:ext cx="320040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21040" y="1874519"/>
            <a:ext cx="2926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Data flows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2331720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286000"/>
            <a:ext cx="26517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Incident information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logs and alerts from external sources</a:t>
            </a:r>
          </a:p>
        </p:txBody>
      </p:sp>
      <p:sp>
        <p:nvSpPr>
          <p:cNvPr id="31" name="Oval 30"/>
          <p:cNvSpPr/>
          <p:nvPr/>
        </p:nvSpPr>
        <p:spPr>
          <a:xfrm>
            <a:off x="8321040" y="2935224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889504"/>
            <a:ext cx="26517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Incident data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query or request from the analyst</a:t>
            </a:r>
          </a:p>
        </p:txBody>
      </p:sp>
      <p:sp>
        <p:nvSpPr>
          <p:cNvPr id="33" name="Oval 32"/>
          <p:cNvSpPr/>
          <p:nvPr/>
        </p:nvSpPr>
        <p:spPr>
          <a:xfrm>
            <a:off x="8321040" y="3538728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493008"/>
            <a:ext cx="26517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Store / retrieve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incident records to and from MySQL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4142232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096512"/>
            <a:ext cx="26517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Processed data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sent to the AI engine</a:t>
            </a:r>
          </a:p>
        </p:txBody>
      </p:sp>
      <p:sp>
        <p:nvSpPr>
          <p:cNvPr id="37" name="Oval 36"/>
          <p:cNvSpPr/>
          <p:nvPr/>
        </p:nvSpPr>
        <p:spPr>
          <a:xfrm>
            <a:off x="8321040" y="4745736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700016"/>
            <a:ext cx="26517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Classification, priority, response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returned by the AI engine</a:t>
            </a:r>
          </a:p>
        </p:txBody>
      </p:sp>
      <p:sp>
        <p:nvSpPr>
          <p:cNvPr id="39" name="Oval 38"/>
          <p:cNvSpPr/>
          <p:nvPr/>
        </p:nvSpPr>
        <p:spPr>
          <a:xfrm>
            <a:off x="8321040" y="5349240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5303520"/>
            <a:ext cx="26517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Analysis results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response recommendation to analyst</a:t>
            </a:r>
          </a:p>
        </p:txBody>
      </p:sp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DFD Diagram (Level 1)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864108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60120" y="1965960"/>
            <a:ext cx="1371600" cy="50292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Security logs /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697480"/>
            <a:ext cx="1371600" cy="5486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Security analyst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011680"/>
            <a:ext cx="1645920" cy="77724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/>
            <a:r>
              <a:rPr sz="1100" b="1" i="0">
                <a:solidFill>
                  <a:srgbClr val="FFD7D7"/>
                </a:solidFill>
                <a:latin typeface="Calibri"/>
              </a:rPr>
              <a:t>1.0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Submit &amp; validate incident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011680"/>
            <a:ext cx="1645920" cy="77724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/>
            <a:r>
              <a:rPr sz="1100" b="1" i="0">
                <a:solidFill>
                  <a:srgbClr val="FFD7D7"/>
                </a:solidFill>
                <a:latin typeface="Calibri"/>
              </a:rPr>
              <a:t>2.0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Manage incident 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176272"/>
            <a:ext cx="1645920" cy="457200"/>
          </a:xfrm>
          <a:prstGeom prst="rect">
            <a:avLst/>
          </a:prstGeom>
          <a:solidFill>
            <a:srgbClr val="E8F3E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D1  </a:t>
            </a:r>
            <a:r>
              <a:rPr sz="1100" b="1" i="0">
                <a:solidFill>
                  <a:srgbClr val="1F2937"/>
                </a:solidFill>
                <a:latin typeface="Calibri"/>
              </a:rPr>
              <a:t>Incidents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3611880"/>
            <a:ext cx="1645920" cy="777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02060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3.0</a:t>
            </a:r>
          </a:p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Classify incident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3611880"/>
            <a:ext cx="1645920" cy="777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02060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4.0</a:t>
            </a:r>
          </a:p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Prioritize (heuristic)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611880"/>
            <a:ext cx="1645920" cy="777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02060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5.0</a:t>
            </a:r>
          </a:p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Recommend response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767328"/>
            <a:ext cx="1371600" cy="457200"/>
          </a:xfrm>
          <a:prstGeom prst="rect">
            <a:avLst/>
          </a:prstGeom>
          <a:solidFill>
            <a:srgbClr val="E8F3E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D3  </a:t>
            </a:r>
            <a:r>
              <a:rPr sz="1100" b="1" i="0">
                <a:solidFill>
                  <a:srgbClr val="1F2937"/>
                </a:solidFill>
                <a:latin typeface="Calibri"/>
              </a:rPr>
              <a:t>Response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5120640"/>
            <a:ext cx="1645920" cy="457200"/>
          </a:xfrm>
          <a:prstGeom prst="rect">
            <a:avLst/>
          </a:prstGeom>
          <a:solidFill>
            <a:srgbClr val="E8F3E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D2  </a:t>
            </a:r>
            <a:r>
              <a:rPr sz="1100" b="1" i="0">
                <a:solidFill>
                  <a:srgbClr val="1F2937"/>
                </a:solidFill>
                <a:latin typeface="Calibri"/>
              </a:rPr>
              <a:t>Incident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4965192"/>
            <a:ext cx="1645920" cy="777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02060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6.0</a:t>
            </a:r>
          </a:p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Display on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5029200"/>
            <a:ext cx="1645920" cy="59436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Security analyst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31720" y="2212848"/>
            <a:ext cx="685800" cy="73152"/>
          </a:xfrm>
          <a:prstGeom prst="line">
            <a:avLst/>
          </a:prstGeom>
          <a:ln w="1587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377440" y="1874519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5B6472"/>
                </a:solidFill>
                <a:latin typeface="Calibri"/>
              </a:rPr>
              <a:t>alerts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331720" y="2606040"/>
            <a:ext cx="685800" cy="365760"/>
          </a:xfrm>
          <a:prstGeom prst="line">
            <a:avLst/>
          </a:prstGeom>
          <a:ln w="1587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331720" y="3035808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5B6472"/>
                </a:solidFill>
                <a:latin typeface="Calibri"/>
              </a:rPr>
              <a:t>incident details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63440" y="2395728"/>
            <a:ext cx="685800" cy="0"/>
          </a:xfrm>
          <a:prstGeom prst="line">
            <a:avLst/>
          </a:prstGeom>
          <a:ln w="1587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63440" y="2011680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5B6472"/>
                </a:solidFill>
                <a:latin typeface="Calibri"/>
              </a:rPr>
              <a:t>validated incident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95160" y="2304288"/>
            <a:ext cx="685800" cy="0"/>
          </a:xfrm>
          <a:prstGeom prst="line">
            <a:avLst/>
          </a:prstGeom>
          <a:ln w="1587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995160" y="2514600"/>
            <a:ext cx="685800" cy="0"/>
          </a:xfrm>
          <a:prstGeom prst="line">
            <a:avLst/>
          </a:prstGeom>
          <a:ln w="1587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67728" y="1901952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5B6472"/>
                </a:solidFill>
                <a:latin typeface="Calibri"/>
              </a:rPr>
              <a:t>store / retrieve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03920" y="2633472"/>
            <a:ext cx="0" cy="978408"/>
          </a:xfrm>
          <a:prstGeom prst="line">
            <a:avLst/>
          </a:prstGeom>
          <a:ln w="1587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49640" y="2926080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5B6472"/>
                </a:solidFill>
                <a:latin typeface="Calibri"/>
              </a:rPr>
              <a:t>incident facts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6995160" y="4005072"/>
            <a:ext cx="685800" cy="0"/>
          </a:xfrm>
          <a:prstGeom prst="line">
            <a:avLst/>
          </a:prstGeom>
          <a:ln w="1587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995160" y="3611880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5B6472"/>
                </a:solidFill>
                <a:latin typeface="Calibri"/>
              </a:rPr>
              <a:t>attack class + trace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4663440" y="4005072"/>
            <a:ext cx="685800" cy="0"/>
          </a:xfrm>
          <a:prstGeom prst="line">
            <a:avLst/>
          </a:prstGeom>
          <a:ln w="1587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63440" y="3611880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5B6472"/>
                </a:solidFill>
                <a:latin typeface="Calibri"/>
              </a:rPr>
              <a:t>priority level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331720" y="4005072"/>
            <a:ext cx="685800" cy="0"/>
          </a:xfrm>
          <a:prstGeom prst="line">
            <a:avLst/>
          </a:prstGeom>
          <a:ln w="1587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331720" y="4069080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5B6472"/>
                </a:solidFill>
                <a:latin typeface="Calibri"/>
              </a:rPr>
              <a:t>candidate actions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840480" y="4389120"/>
            <a:ext cx="0" cy="731520"/>
          </a:xfrm>
          <a:prstGeom prst="line">
            <a:avLst/>
          </a:prstGeom>
          <a:ln w="1587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886200" y="457200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5B6472"/>
                </a:solidFill>
                <a:latin typeface="Calibri"/>
              </a:rPr>
              <a:t>class, priority, response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663440" y="5349240"/>
            <a:ext cx="685800" cy="0"/>
          </a:xfrm>
          <a:prstGeom prst="line">
            <a:avLst/>
          </a:prstGeom>
          <a:ln w="1587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663440" y="4983480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5B6472"/>
                </a:solidFill>
                <a:latin typeface="Calibri"/>
              </a:rPr>
              <a:t>analysis results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995160" y="5349240"/>
            <a:ext cx="685800" cy="0"/>
          </a:xfrm>
          <a:prstGeom prst="line">
            <a:avLst/>
          </a:prstGeom>
          <a:ln w="1587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995160" y="4983480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5B6472"/>
                </a:solidFill>
                <a:latin typeface="Calibri"/>
              </a:rPr>
              <a:t>dashboard view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46920" y="1810512"/>
            <a:ext cx="173736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738360" y="1874519"/>
            <a:ext cx="1554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Legend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65792" y="2286000"/>
            <a:ext cx="411480" cy="2926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241280" y="2240280"/>
            <a:ext cx="10972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External entity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65792" y="285292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241280" y="2807208"/>
            <a:ext cx="10972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Process (built)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65792" y="3419856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241280" y="3374136"/>
            <a:ext cx="10972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Process (planned)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65792" y="3986783"/>
            <a:ext cx="411480" cy="292608"/>
          </a:xfrm>
          <a:prstGeom prst="rect">
            <a:avLst/>
          </a:prstGeom>
          <a:solidFill>
            <a:srgbClr val="E8F3EA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0241280" y="3941063"/>
            <a:ext cx="10972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Data store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765792" y="4645152"/>
            <a:ext cx="411480" cy="0"/>
          </a:xfrm>
          <a:prstGeom prst="line">
            <a:avLst/>
          </a:prstGeom>
          <a:ln w="1587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241280" y="4462272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Data flow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60" y="4983480"/>
            <a:ext cx="160020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1">
                <a:solidFill>
                  <a:srgbClr val="5B6472"/>
                </a:solidFill>
                <a:latin typeface="Calibri"/>
              </a:rPr>
              <a:t>Expands process 0 of the Level 0 diagram into six sub-processes.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UML Diagrams: Class and Sequence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4831689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1883664"/>
            <a:ext cx="4685385" cy="2788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718303"/>
            <a:ext cx="4831689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1">
                <a:solidFill>
                  <a:srgbClr val="5B6472"/>
                </a:solidFill>
                <a:latin typeface="Calibri"/>
              </a:rPr>
              <a:t>Fig. 3.4  Class diagram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37529" y="1810512"/>
            <a:ext cx="54091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e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0681" y="1883664"/>
            <a:ext cx="5262856" cy="2788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37529" y="4718303"/>
            <a:ext cx="54091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1">
                <a:solidFill>
                  <a:srgbClr val="5B6472"/>
                </a:solidFill>
                <a:latin typeface="Calibri"/>
              </a:rPr>
              <a:t>Fig. 3.5  Sequence diagram (incident analysis flow)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193792"/>
            <a:ext cx="4831689" cy="841247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5193792"/>
            <a:ext cx="4685385" cy="8412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Calibri"/>
              </a:rPr>
              <a:t>6 classes: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User, Role, Incident, IncidentAnalysis, ResponseAction, SystemLog. One user creates many incidents; each incident has one analysis that recommends many response 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37529" y="5193792"/>
            <a:ext cx="5409160" cy="841247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28969" y="5193792"/>
            <a:ext cx="5262856" cy="8412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Calibri"/>
              </a:rPr>
              <a:t>10 messages: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analyst to UI to Spring Boot controller; the service stores the incident in MySQL, calls the AI engine for classification, priority and response, saves results and returns them to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Methodology / Workflow Diagram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377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32688" y="1938528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920240"/>
            <a:ext cx="1737360" cy="438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Incident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23160"/>
            <a:ext cx="2157984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Attack type, source, target and details arrive through the REST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31546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46120" y="2546603"/>
            <a:ext cx="256032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47872" y="1828800"/>
            <a:ext cx="2377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3657600" y="1938528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20240"/>
            <a:ext cx="1737360" cy="438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Validate &amp; preprocess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423160"/>
            <a:ext cx="2157984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Check required fields and convert values into facts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1546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71032" y="2546603"/>
            <a:ext cx="256032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2784" y="1828800"/>
            <a:ext cx="2377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382512" y="1938528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1920240"/>
            <a:ext cx="1737360" cy="438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Rule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423160"/>
            <a:ext cx="2157984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Compare facts with IF-THEN rules for each attack class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2512" y="31546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695944" y="2546603"/>
            <a:ext cx="256032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97696" y="1828800"/>
            <a:ext cx="2377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07424" y="1938528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4624" y="1920240"/>
            <a:ext cx="1737360" cy="438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Forward chaining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2423160"/>
            <a:ext cx="2157984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Fire matched rules and add new facts until none apply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07424" y="31546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97696" y="4023360"/>
            <a:ext cx="2377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107424" y="4133088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64624" y="4114800"/>
            <a:ext cx="1737360" cy="438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Heuristic priority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7424" y="4617720"/>
            <a:ext cx="2157984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Score severity from incident characteristics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07424" y="53492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35" name="Left Arrow 34"/>
          <p:cNvSpPr/>
          <p:nvPr/>
        </p:nvSpPr>
        <p:spPr>
          <a:xfrm>
            <a:off x="8695944" y="4741164"/>
            <a:ext cx="256032" cy="256032"/>
          </a:xfrm>
          <a:prstGeom prst="lef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72784" y="4023360"/>
            <a:ext cx="2377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382512" y="4133088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4114800"/>
            <a:ext cx="1737360" cy="438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Select response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4617720"/>
            <a:ext cx="2157984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Pick actions that satisfy every incident constraint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82512" y="53492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41" name="Left Arrow 40"/>
          <p:cNvSpPr/>
          <p:nvPr/>
        </p:nvSpPr>
        <p:spPr>
          <a:xfrm>
            <a:off x="5971032" y="4741164"/>
            <a:ext cx="256032" cy="256032"/>
          </a:xfrm>
          <a:prstGeom prst="lef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47872" y="4023360"/>
            <a:ext cx="2377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3657600" y="4133088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4114800"/>
            <a:ext cx="1737360" cy="438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Store / return result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617720"/>
            <a:ext cx="2157984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Persist in MySQL and return through the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0" y="53492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3246120" y="4741164"/>
            <a:ext cx="256032" cy="256032"/>
          </a:xfrm>
          <a:prstGeom prst="lef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2960" y="4023360"/>
            <a:ext cx="2377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932688" y="4133088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89888" y="4114800"/>
            <a:ext cx="1737360" cy="438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Dashboard &amp; evaluation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" y="4617720"/>
            <a:ext cx="2157984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Display results and test with attack scenarios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2688" y="53492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10058400" y="3611880"/>
            <a:ext cx="256032" cy="320040"/>
          </a:xfrm>
          <a:prstGeom prst="down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22960" y="3630168"/>
            <a:ext cx="6400800" cy="29260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22960" y="3611880"/>
            <a:ext cx="77724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Red outline</a:t>
            </a:r>
            <a:r>
              <a:rPr sz="1200" b="0" i="0">
                <a:solidFill>
                  <a:srgbClr val="5B6472"/>
                </a:solidFill>
                <a:latin typeface="Calibri"/>
              </a:rPr>
              <a:t> = AI core (steps 3 to 6): rule-based reasoning, forward chaining, heuristic evaluation, constraint satisfaction</a:t>
            </a:r>
          </a:p>
        </p:txBody>
      </p:sp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Tools and Technologies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87552" y="1993392"/>
            <a:ext cx="685800" cy="6858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ava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" y="2144268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10512" y="1947672"/>
            <a:ext cx="228600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295144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PROGRAMMING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752344"/>
            <a:ext cx="30632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Typed, mature ecosystem; one language for backend and rule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10512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553712" y="1993392"/>
            <a:ext cx="685800" cy="6858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eaf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588" y="2144268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76672" y="1947672"/>
            <a:ext cx="228600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Spring Boot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2295144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752344"/>
            <a:ext cx="30632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Auto-configuration and layered REST structure cut setup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810512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119871" y="1993392"/>
            <a:ext cx="685800" cy="6858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b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747" y="2144268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42832" y="1947672"/>
            <a:ext cx="228600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MySQL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2295144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DATABASE SOFTWARE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1" y="2752344"/>
            <a:ext cx="30632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Relational schema fits structured incident and analysis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593591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87552" y="3776472"/>
            <a:ext cx="685800" cy="6858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en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428" y="3927348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810512" y="3730752"/>
            <a:ext cx="228600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Postman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10512" y="4078224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API TESTING 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4535424"/>
            <a:ext cx="30632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Quick, repeatable checks of every CRUD endpoint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593591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4553712" y="3776472"/>
            <a:ext cx="685800" cy="6858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lug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4588" y="3927348"/>
            <a:ext cx="384048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76672" y="3730752"/>
            <a:ext cx="228600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REST / 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672" y="4078224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INTERFACE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535424"/>
            <a:ext cx="30632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Language-neutral contract, so dashboard and AI engine plug in later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3593591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119871" y="3776472"/>
            <a:ext cx="685800" cy="685800"/>
          </a:xfrm>
          <a:prstGeom prst="ellipse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dash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0747" y="3927348"/>
            <a:ext cx="384048" cy="38404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942832" y="3730752"/>
            <a:ext cx="228600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Web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42832" y="4078224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USER INTERFACE (PLANNED)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9871" y="4535424"/>
            <a:ext cx="30632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One monitoring view for incidents, priority and actions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5440680"/>
            <a:ext cx="10515600" cy="59436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960120" y="550468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rai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704" y="5605272"/>
            <a:ext cx="256032" cy="25603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54480" y="5440680"/>
            <a:ext cx="969264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FFD7D7"/>
                </a:solidFill>
                <a:latin typeface="Calibri"/>
              </a:rPr>
              <a:t>Dataset: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no training data needed; the rule-based AI layer works on incident attributes. Scenario incidents (brute force, port scan, DoS) will be prepared for testing.</a:t>
            </a:r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List of Modules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2450592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22960" y="1810512"/>
            <a:ext cx="2450592" cy="11430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972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0" name="Oval 9"/>
          <p:cNvSpPr/>
          <p:nvPr/>
        </p:nvSpPr>
        <p:spPr>
          <a:xfrm>
            <a:off x="2587752" y="190195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b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429" y="2018629"/>
            <a:ext cx="296997" cy="2969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377440"/>
            <a:ext cx="217627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Incident Management &amp;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2221992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CRUD for incident records</a:t>
            </a:r>
          </a:p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Spring Boot layers + MySQL</a:t>
            </a:r>
          </a:p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APIs tested in Postman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1772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5B6472"/>
                </a:solidFill>
                <a:latin typeface="Calibri"/>
              </a:rPr>
              <a:t>Progress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919472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960120" y="4919472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60120" y="51206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291840" y="3520440"/>
            <a:ext cx="210312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20440" y="1810512"/>
            <a:ext cx="2450592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520440" y="1810512"/>
            <a:ext cx="2450592" cy="11430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57600" y="1828800"/>
            <a:ext cx="10972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22" name="Oval 21"/>
          <p:cNvSpPr/>
          <p:nvPr/>
        </p:nvSpPr>
        <p:spPr>
          <a:xfrm>
            <a:off x="5285232" y="190195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rain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909" y="2018629"/>
            <a:ext cx="296997" cy="29699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57600" y="2377440"/>
            <a:ext cx="217627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AI-Based Incident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090672"/>
            <a:ext cx="2221992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Rule base per attack class</a:t>
            </a:r>
          </a:p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Forward-chaining inference</a:t>
            </a:r>
          </a:p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Classification with rule 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61772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5B6472"/>
                </a:solidFill>
                <a:latin typeface="Calibri"/>
              </a:rPr>
              <a:t>Progress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4919472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3657600" y="51206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89320" y="3520440"/>
            <a:ext cx="210312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0" y="1810512"/>
            <a:ext cx="2450592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6217920" y="1810512"/>
            <a:ext cx="2450592" cy="11430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55080" y="1828800"/>
            <a:ext cx="10972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33" name="Oval 32"/>
          <p:cNvSpPr/>
          <p:nvPr/>
        </p:nvSpPr>
        <p:spPr>
          <a:xfrm>
            <a:off x="7982712" y="190195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ort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389" y="2018629"/>
            <a:ext cx="296997" cy="29699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355080" y="2377440"/>
            <a:ext cx="217627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Intelligent Prioritization &amp; 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090672"/>
            <a:ext cx="2221992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Heuristic severity and priority</a:t>
            </a:r>
          </a:p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Constraint-based action selection</a:t>
            </a:r>
          </a:p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Recommended response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61772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5B6472"/>
                </a:solidFill>
                <a:latin typeface="Calibri"/>
              </a:rPr>
              <a:t>Progress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4919472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6355080" y="51206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686800" y="3520440"/>
            <a:ext cx="210312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15400" y="1810512"/>
            <a:ext cx="2450592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8915400" y="1810512"/>
            <a:ext cx="2450592" cy="11430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052560" y="1828800"/>
            <a:ext cx="10972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44" name="Oval 43"/>
          <p:cNvSpPr/>
          <p:nvPr/>
        </p:nvSpPr>
        <p:spPr>
          <a:xfrm>
            <a:off x="10680192" y="190195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dash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6869" y="2018629"/>
            <a:ext cx="296997" cy="29699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052560" y="2377440"/>
            <a:ext cx="217627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Dashboard &amp; Integration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3090672"/>
            <a:ext cx="2221992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Incident list and status</a:t>
            </a:r>
          </a:p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Priority and AI recommendations</a:t>
            </a:r>
          </a:p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Connected to REST APIs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461772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5B6472"/>
                </a:solidFill>
                <a:latin typeface="Calibri"/>
              </a:rPr>
              <a:t>Progress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4919472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9052560" y="51206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623560"/>
            <a:ext cx="105156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Current milestone: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M1 backend foundation complete; M2 to M4 build the end-to-end AI-assisted response workflow on top of it.</a:t>
            </a:r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Module Implementation –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4206240" cy="34747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MODULE 1  |  INCIDENT MANAGEMENT &amp;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764792"/>
            <a:ext cx="484632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1">
                <a:solidFill>
                  <a:srgbClr val="5B6472"/>
                </a:solidFill>
                <a:latin typeface="Calibri"/>
              </a:rPr>
              <a:t>Input: incident JSON via REST   Output: stored record /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31720"/>
            <a:ext cx="3749039" cy="603504"/>
          </a:xfrm>
          <a:prstGeom prst="roundRect">
            <a:avLst>
              <a:gd name="adj" fmla="val 8000"/>
            </a:avLst>
          </a:prstGeom>
          <a:solidFill>
            <a:srgbClr val="0B2E6F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1234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331720"/>
            <a:ext cx="2377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E8EEF8"/>
                </a:solidFill>
                <a:latin typeface="Calibri"/>
              </a:rPr>
              <a:t>Exposes REST endpoints, maps HTTP to service calls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97480" y="2935224"/>
            <a:ext cx="0" cy="128015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3063239"/>
            <a:ext cx="3749039" cy="603504"/>
          </a:xfrm>
          <a:prstGeom prst="roundRect">
            <a:avLst>
              <a:gd name="adj" fmla="val 8000"/>
            </a:avLst>
          </a:prstGeom>
          <a:solidFill>
            <a:srgbClr val="1A3D8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3063239"/>
            <a:ext cx="1234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063239"/>
            <a:ext cx="2377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E8EEF8"/>
                </a:solidFill>
                <a:latin typeface="Calibri"/>
              </a:rPr>
              <a:t>Business logic and validation hooks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97480" y="3666744"/>
            <a:ext cx="0" cy="128015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" y="3794760"/>
            <a:ext cx="3749039" cy="603504"/>
          </a:xfrm>
          <a:prstGeom prst="roundRect">
            <a:avLst>
              <a:gd name="adj" fmla="val 8000"/>
            </a:avLst>
          </a:prstGeom>
          <a:solidFill>
            <a:srgbClr val="2B4E91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794760"/>
            <a:ext cx="1234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794760"/>
            <a:ext cx="2377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E8EEF8"/>
                </a:solidFill>
                <a:latin typeface="Calibri"/>
              </a:rPr>
              <a:t>Data access for incident entities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7480" y="4398264"/>
            <a:ext cx="0" cy="128016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" y="4526280"/>
            <a:ext cx="3749039" cy="603504"/>
          </a:xfrm>
          <a:prstGeom prst="roundRect">
            <a:avLst>
              <a:gd name="adj" fmla="val 8000"/>
            </a:avLst>
          </a:prstGeom>
          <a:solidFill>
            <a:srgbClr val="3D60A3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4400" y="4526280"/>
            <a:ext cx="1234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526280"/>
            <a:ext cx="2377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E8EEF8"/>
                </a:solidFill>
                <a:latin typeface="Calibri"/>
              </a:rPr>
              <a:t>Incident object mapped to a table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697480" y="5129784"/>
            <a:ext cx="0" cy="128016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2960" y="5257800"/>
            <a:ext cx="3749039" cy="603504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" y="5257800"/>
            <a:ext cx="1234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MySQL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257800"/>
            <a:ext cx="2377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E8EEF8"/>
                </a:solidFill>
                <a:latin typeface="Calibri"/>
              </a:rPr>
              <a:t>Persistent incident records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2331720"/>
            <a:ext cx="32461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937760" y="2395728"/>
            <a:ext cx="30175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CRUD operations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294436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2852928"/>
            <a:ext cx="201168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Create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ourier New"/>
              </a:rPr>
              <a:t>createIncident()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365760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566160"/>
            <a:ext cx="201168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Read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ourier New"/>
              </a:rPr>
              <a:t>getIncidentDetails()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4370831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279392"/>
            <a:ext cx="201168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Update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ourier New"/>
              </a:rPr>
              <a:t>updateIncident()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37760" y="508406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992624"/>
            <a:ext cx="201168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Delete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ourier New"/>
              </a:rPr>
              <a:t>remove 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5596128"/>
            <a:ext cx="30175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✓ All four verified in Postman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2331720"/>
            <a:ext cx="315468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229600" y="2331720"/>
            <a:ext cx="3154680" cy="4572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Incident  (entity)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2880360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ourier New"/>
              </a:rPr>
              <a:t>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2880360"/>
            <a:ext cx="12344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0" i="0">
                <a:solidFill>
                  <a:srgbClr val="692D91"/>
                </a:solidFill>
                <a:latin typeface="Courier New"/>
              </a:rPr>
              <a:t>Long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3255264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ourier New"/>
              </a:rPr>
              <a:t>title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255264"/>
            <a:ext cx="12344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0" i="0">
                <a:solidFill>
                  <a:srgbClr val="692D91"/>
                </a:solidFill>
                <a:latin typeface="Courier New"/>
              </a:rPr>
              <a:t>String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3630168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ourier New"/>
              </a:rPr>
              <a:t>description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3630168"/>
            <a:ext cx="12344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0" i="0">
                <a:solidFill>
                  <a:srgbClr val="692D91"/>
                </a:solidFill>
                <a:latin typeface="Courier New"/>
              </a:rPr>
              <a:t>String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005072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ourier New"/>
              </a:rPr>
              <a:t>incidentType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4005072"/>
            <a:ext cx="12344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0" i="0">
                <a:solidFill>
                  <a:srgbClr val="692D91"/>
                </a:solidFill>
                <a:latin typeface="Courier New"/>
              </a:rPr>
              <a:t>String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4379976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ourier New"/>
              </a:rP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4379976"/>
            <a:ext cx="12344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0" i="0">
                <a:solidFill>
                  <a:srgbClr val="692D91"/>
                </a:solidFill>
                <a:latin typeface="Courier New"/>
              </a:rPr>
              <a:t>String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4754879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ourier New"/>
              </a:rPr>
              <a:t>status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4754879"/>
            <a:ext cx="12344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0" i="0">
                <a:solidFill>
                  <a:srgbClr val="692D91"/>
                </a:solidFill>
                <a:latin typeface="Courier New"/>
              </a:rPr>
              <a:t>String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5129783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ourier New"/>
              </a:rPr>
              <a:t>createdAt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5129783"/>
            <a:ext cx="12344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0" i="0">
                <a:solidFill>
                  <a:srgbClr val="692D91"/>
                </a:solidFill>
                <a:latin typeface="Courier New"/>
              </a:rPr>
              <a:t>Date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5504688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ourier New"/>
              </a:rPr>
              <a:t>updatedAt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5504688"/>
            <a:ext cx="12344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0" i="0">
                <a:solidFill>
                  <a:srgbClr val="692D91"/>
                </a:solidFill>
                <a:latin typeface="Courier New"/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Module Implementation –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4206240" cy="34747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MODULE 2  |  AI-BASED INCIDENT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764792"/>
            <a:ext cx="484632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1">
                <a:solidFill>
                  <a:srgbClr val="5B6472"/>
                </a:solidFill>
                <a:latin typeface="Calibri"/>
              </a:rPr>
              <a:t>Input: incident facts from M1   Output: class, rule trace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31720"/>
            <a:ext cx="5577840" cy="3703320"/>
          </a:xfrm>
          <a:prstGeom prst="roundRect">
            <a:avLst>
              <a:gd name="adj" fmla="val 8000"/>
            </a:avLst>
          </a:prstGeom>
          <a:solidFill>
            <a:srgbClr val="1E2433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395728"/>
            <a:ext cx="53035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FFD7D7"/>
                </a:solidFill>
                <a:latin typeface="Calibri"/>
              </a:rPr>
              <a:t>Forward-chaining algorithm (pseudocode)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5349240" cy="3200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BF5"/>
                </a:solidFill>
                <a:latin typeface="Courier New"/>
              </a:rPr>
              <a:t>FORWARD_CHAIN(F: facts, R: rules)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BF5"/>
                </a:solidFill>
                <a:latin typeface="Courier New"/>
              </a:rPr>
              <a:t>  trace ← [ ]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BF5"/>
                </a:solidFill>
                <a:latin typeface="Courier New"/>
              </a:rPr>
              <a:t>  repeat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BF5"/>
                </a:solidFill>
                <a:latin typeface="Courier New"/>
              </a:rPr>
              <a:t>    new ← ∅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BF5"/>
                </a:solidFill>
                <a:latin typeface="Courier New"/>
              </a:rPr>
              <a:t>    for each rule r in R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BF5"/>
                </a:solidFill>
                <a:latin typeface="Courier New"/>
              </a:rPr>
              <a:t>      if r.IF ⊆ F and r.THEN ∉ F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BF5"/>
                </a:solidFill>
                <a:latin typeface="Courier New"/>
              </a:rPr>
              <a:t>        new ← new ∪ {r.THEN}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BF5"/>
                </a:solidFill>
                <a:latin typeface="Courier New"/>
              </a:rPr>
              <a:t>        trace.append(r.id)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BF5"/>
                </a:solidFill>
                <a:latin typeface="Courier New"/>
              </a:rPr>
              <a:t>    F ← F ∪ new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BF5"/>
                </a:solidFill>
                <a:latin typeface="Courier New"/>
              </a:rPr>
              <a:t>  until new = ∅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BF5"/>
                </a:solidFill>
                <a:latin typeface="Courier New"/>
              </a:rPr>
              <a:t>  return F, trace     // F holds type, severity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BF5"/>
                </a:solidFill>
                <a:latin typeface="Courier New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BF5"/>
                </a:solidFill>
                <a:latin typeface="Courier New"/>
              </a:rPr>
              <a:t>PRIORITY ← HEURISTIC(F)       // M3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BF5"/>
                </a:solidFill>
                <a:latin typeface="Courier New"/>
              </a:rPr>
              <a:t>RESPONSE ← SELECT(actions | constraints(F))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331720"/>
            <a:ext cx="480060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20840" y="2395728"/>
            <a:ext cx="4572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Interaction with other modules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2788920"/>
            <a:ext cx="685800" cy="5029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788920"/>
            <a:ext cx="37947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Incident record (type, source, target, counts)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63740" y="3291839"/>
            <a:ext cx="0" cy="15544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720840" y="3447287"/>
            <a:ext cx="68580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447287"/>
            <a:ext cx="37947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Matches rules, runs forward chaining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63740" y="3950207"/>
            <a:ext cx="0" cy="15544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20840" y="4105656"/>
            <a:ext cx="685800" cy="502920"/>
          </a:xfrm>
          <a:prstGeom prst="roundRect">
            <a:avLst>
              <a:gd name="adj" fmla="val 8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105656"/>
            <a:ext cx="37947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Uses class to score priority and pick response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63740" y="4608576"/>
            <a:ext cx="0" cy="15544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20840" y="4764024"/>
            <a:ext cx="685800" cy="5029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764024"/>
            <a:ext cx="37947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Displays class, trace, priority and actions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5440680"/>
            <a:ext cx="4526280" cy="502920"/>
          </a:xfrm>
          <a:prstGeom prst="roundRect">
            <a:avLst>
              <a:gd name="adj" fmla="val 8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12280" y="5440680"/>
            <a:ext cx="43891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C77700"/>
                </a:solidFill>
                <a:latin typeface="Calibri"/>
              </a:rPr>
              <a:t>Planned test: 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brute-force, port-scan and DoS incidents; fired rules must match the expected class.</a:t>
            </a:r>
          </a:p>
        </p:txBody>
      </p:sp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Preliminary Results and Discussion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15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31089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292608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Milestone completion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14400" y="2148840"/>
          <a:ext cx="292608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2779776"/>
            <a:ext cx="292608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Calibri"/>
              </a:rPr>
              <a:t>55%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05072"/>
            <a:ext cx="2926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0">
                <a:solidFill>
                  <a:srgbClr val="2E7D32"/>
                </a:solidFill>
                <a:latin typeface="Calibri"/>
              </a:rPr>
              <a:t>■ </a:t>
            </a:r>
            <a:r>
              <a:rPr sz="1000" b="0" i="0">
                <a:solidFill>
                  <a:srgbClr val="5B6472"/>
                </a:solidFill>
                <a:latin typeface="Calibri"/>
              </a:rPr>
              <a:t>Completed 6   </a:t>
            </a:r>
            <a:r>
              <a:rPr sz="1000" b="0" i="0">
                <a:solidFill>
                  <a:srgbClr val="C3CAD5"/>
                </a:solidFill>
                <a:latin typeface="Calibri"/>
              </a:rPr>
              <a:t>■ </a:t>
            </a:r>
            <a:r>
              <a:rPr sz="1000" b="0" i="0">
                <a:solidFill>
                  <a:srgbClr val="5B6472"/>
                </a:solidFill>
                <a:latin typeface="Calibri"/>
              </a:rPr>
              <a:t>Pending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810512"/>
            <a:ext cx="37947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160520" y="1847088"/>
            <a:ext cx="35661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Milestones by module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114800" y="2103120"/>
          <a:ext cx="3703320" cy="21762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001000" y="1810512"/>
            <a:ext cx="338328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19872" y="1847088"/>
            <a:ext cx="3200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Implementation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139696"/>
            <a:ext cx="3246120" cy="1143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100" b="0" i="0">
                <a:solidFill>
                  <a:srgbClr val="1F2937"/>
                </a:solidFill>
                <a:latin typeface="Calibri"/>
              </a:rPr>
              <a:t>Spring Boot project configured</a:t>
            </a:r>
          </a:p>
          <a:p>
            <a:pPr marL="228600" indent="-228600">
              <a:spcAft>
                <a:spcPts val="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100" b="0" i="0">
                <a:solidFill>
                  <a:srgbClr val="1F2937"/>
                </a:solidFill>
                <a:latin typeface="Calibri"/>
              </a:rPr>
              <a:t>MySQL database created</a:t>
            </a:r>
          </a:p>
          <a:p>
            <a:pPr marL="228600" indent="-228600">
              <a:spcAft>
                <a:spcPts val="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100" b="0" i="0">
                <a:solidFill>
                  <a:srgbClr val="1F2937"/>
                </a:solidFill>
                <a:latin typeface="Calibri"/>
              </a:rPr>
              <a:t>Incident entity integrated</a:t>
            </a:r>
          </a:p>
          <a:p>
            <a:pPr marL="228600" indent="-228600">
              <a:spcAft>
                <a:spcPts val="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Repository, service, controller</a:t>
            </a:r>
          </a:p>
          <a:p>
            <a:pPr marL="228600" indent="-228600">
              <a:spcAft>
                <a:spcPts val="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100" b="0" i="0">
                <a:solidFill>
                  <a:srgbClr val="1F2937"/>
                </a:solidFill>
                <a:latin typeface="Calibri"/>
              </a:rPr>
              <a:t>CRUD REST APIs developed</a:t>
            </a:r>
          </a:p>
          <a:p>
            <a:pPr marL="228600" indent="-228600">
              <a:spcAft>
                <a:spcPts val="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100" b="0" i="0">
                <a:solidFill>
                  <a:srgbClr val="1F2937"/>
                </a:solidFill>
                <a:latin typeface="Calibri"/>
              </a:rPr>
              <a:t>APIs tested in Postman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291840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0"/>
              </a:spcAft>
              <a:buClr>
                <a:srgbClr val="C77700"/>
              </a:buClr>
              <a:buSzPct val="80000"/>
              <a:buFont typeface="Arial"/>
              <a:buChar char="○"/>
            </a:pPr>
            <a:r>
              <a:rPr sz="1100" b="0" i="0">
                <a:solidFill>
                  <a:srgbClr val="5B6472"/>
                </a:solidFill>
                <a:latin typeface="Calibri"/>
              </a:rPr>
              <a:t>AI rule-based analysis</a:t>
            </a:r>
          </a:p>
          <a:p>
            <a:pPr marL="228600" indent="-228600">
              <a:spcAft>
                <a:spcPts val="0"/>
              </a:spcAft>
              <a:buClr>
                <a:srgbClr val="C77700"/>
              </a:buClr>
              <a:buSzPct val="80000"/>
              <a:buFont typeface="Arial"/>
              <a:buChar char="○"/>
            </a:pPr>
            <a:r>
              <a:rPr sz="1100" b="0" i="0">
                <a:solidFill>
                  <a:srgbClr val="5B6472"/>
                </a:solidFill>
                <a:latin typeface="Calibri"/>
              </a:rPr>
              <a:t>Heuristic prioritization</a:t>
            </a:r>
          </a:p>
          <a:p>
            <a:pPr marL="228600" indent="-228600">
              <a:spcAft>
                <a:spcPts val="0"/>
              </a:spcAft>
              <a:buClr>
                <a:srgbClr val="C77700"/>
              </a:buClr>
              <a:buSzPct val="80000"/>
              <a:buFont typeface="Arial"/>
              <a:buChar char="○"/>
            </a:pPr>
            <a:r>
              <a:rPr sz="1100" b="0" i="0">
                <a:solidFill>
                  <a:srgbClr val="5B6472"/>
                </a:solidFill>
                <a:latin typeface="Calibri"/>
              </a:rPr>
              <a:t>Response recommendation</a:t>
            </a:r>
          </a:p>
          <a:p>
            <a:pPr marL="228600" indent="-228600">
              <a:spcAft>
                <a:spcPts val="0"/>
              </a:spcAft>
              <a:buClr>
                <a:srgbClr val="C77700"/>
              </a:buClr>
              <a:buSzPct val="80000"/>
              <a:buFont typeface="Arial"/>
              <a:buChar char="○"/>
            </a:pPr>
            <a:r>
              <a:rPr sz="1100" b="0" i="0">
                <a:solidFill>
                  <a:srgbClr val="5B6472"/>
                </a:solidFill>
                <a:latin typeface="Calibri"/>
              </a:rPr>
              <a:t>Dashboard</a:t>
            </a:r>
          </a:p>
          <a:p>
            <a:pPr marL="228600" indent="-228600">
              <a:spcAft>
                <a:spcPts val="0"/>
              </a:spcAft>
              <a:buClr>
                <a:srgbClr val="C77700"/>
              </a:buClr>
              <a:buSzPct val="80000"/>
              <a:buFont typeface="Arial"/>
              <a:buChar char="○"/>
            </a:pPr>
            <a:r>
              <a:rPr sz="1100" b="0" i="0">
                <a:solidFill>
                  <a:srgbClr val="5B6472"/>
                </a:solidFill>
                <a:latin typeface="Calibri"/>
              </a:rPr>
              <a:t>Final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622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API TEST CASES EXECUTED (POSTMAN)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22960" y="4736592"/>
          <a:ext cx="5760720" cy="13258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0080"/>
                <a:gridCol w="1417320"/>
                <a:gridCol w="2788920"/>
                <a:gridCol w="914400"/>
              </a:tblGrid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Expected outcome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TC1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Create (POST)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Incident saved in MySQL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TC2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Read (GET)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Stored incident returned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TC3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Update (PUT)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Incident fields updated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TC4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Delete (DELETE)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Incident removed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766560" y="44622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BASELINE COMPARISON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766560" y="4736592"/>
          <a:ext cx="4617720" cy="13258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25880"/>
                <a:gridCol w="1600200"/>
                <a:gridCol w="1691640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Manual / existing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Current system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Incident storage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Scattered across tools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One MySQL store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Record access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Tool-specific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REST CRUD API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Prioritization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Analyst judgement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Heuristic (next)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Response advice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Expertise-dependent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Constraint-based (next)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User Interface / Implementation Screenshots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22960" y="1810512"/>
            <a:ext cx="5212080" cy="384048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0120" y="1938528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" y="1938528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" y="1938528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1810512"/>
            <a:ext cx="4297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Screenshot 1: Postman</a:t>
            </a:r>
            <a:r>
              <a:rPr sz="1200" b="0" i="0">
                <a:solidFill>
                  <a:srgbClr val="C9D3E6"/>
                </a:solidFill>
                <a:latin typeface="Calibri"/>
              </a:rPr>
              <a:t>  |  CREATE / READ API response</a:t>
            </a:r>
          </a:p>
        </p:txBody>
      </p:sp>
      <p:sp>
        <p:nvSpPr>
          <p:cNvPr id="13" name="Oval 12"/>
          <p:cNvSpPr/>
          <p:nvPr/>
        </p:nvSpPr>
        <p:spPr>
          <a:xfrm>
            <a:off x="3108960" y="2587752"/>
            <a:ext cx="640080" cy="64008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nd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777" y="2728569"/>
            <a:ext cx="358444" cy="3584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3227832"/>
            <a:ext cx="5212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1">
                <a:solidFill>
                  <a:srgbClr val="9AA3B2"/>
                </a:solidFill>
                <a:latin typeface="Calibri"/>
              </a:rPr>
              <a:t>Paste screenshot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74720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Shows: 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new incident created and fetched as 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810512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172200" y="1810512"/>
            <a:ext cx="5212080" cy="384048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309360" y="1938528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1938528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75120" y="1938528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810512"/>
            <a:ext cx="4297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Screenshot 2: MySQL</a:t>
            </a:r>
            <a:r>
              <a:rPr sz="1200" b="0" i="0">
                <a:solidFill>
                  <a:srgbClr val="C9D3E6"/>
                </a:solidFill>
                <a:latin typeface="Calibri"/>
              </a:rPr>
              <a:t>  |  Incident table with stored records</a:t>
            </a:r>
          </a:p>
        </p:txBody>
      </p:sp>
      <p:sp>
        <p:nvSpPr>
          <p:cNvPr id="23" name="Oval 22"/>
          <p:cNvSpPr/>
          <p:nvPr/>
        </p:nvSpPr>
        <p:spPr>
          <a:xfrm>
            <a:off x="8458200" y="2587752"/>
            <a:ext cx="640080" cy="64008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b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17" y="2728569"/>
            <a:ext cx="358444" cy="3584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72200" y="3227832"/>
            <a:ext cx="5212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1">
                <a:solidFill>
                  <a:srgbClr val="9AA3B2"/>
                </a:solidFill>
                <a:latin typeface="Calibri"/>
              </a:rPr>
              <a:t>Paste screenshot 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474720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Shows: 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incident rows persisted in the database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959352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822960" y="3959352"/>
            <a:ext cx="5212080" cy="384048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60120" y="4087368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43000" y="4087368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87368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00200" y="3959352"/>
            <a:ext cx="4297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Screenshot 3: Spring Boot</a:t>
            </a:r>
            <a:r>
              <a:rPr sz="1200" b="0" i="0">
                <a:solidFill>
                  <a:srgbClr val="C9D3E6"/>
                </a:solidFill>
                <a:latin typeface="Calibri"/>
              </a:rPr>
              <a:t>  |  Startup and DB connection</a:t>
            </a:r>
          </a:p>
        </p:txBody>
      </p:sp>
      <p:sp>
        <p:nvSpPr>
          <p:cNvPr id="33" name="Oval 32"/>
          <p:cNvSpPr/>
          <p:nvPr/>
        </p:nvSpPr>
        <p:spPr>
          <a:xfrm>
            <a:off x="3108960" y="4736592"/>
            <a:ext cx="640080" cy="64008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eaf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9777" y="4877409"/>
            <a:ext cx="358444" cy="3584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22960" y="5376672"/>
            <a:ext cx="5212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1">
                <a:solidFill>
                  <a:srgbClr val="9AA3B2"/>
                </a:solidFill>
                <a:latin typeface="Calibri"/>
              </a:rPr>
              <a:t>Paste screenshot here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623560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Shows: 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application starts and connects to MySQL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3959352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6172200" y="3959352"/>
            <a:ext cx="5212080" cy="384048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6309360" y="4087368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92240" y="4087368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675120" y="4087368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3959352"/>
            <a:ext cx="4297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Screenshot 4: Postman</a:t>
            </a:r>
            <a:r>
              <a:rPr sz="1200" b="0" i="0">
                <a:solidFill>
                  <a:srgbClr val="C9D3E6"/>
                </a:solidFill>
                <a:latin typeface="Calibri"/>
              </a:rPr>
              <a:t>  |  UPDATE / DELETE verification</a:t>
            </a:r>
          </a:p>
        </p:txBody>
      </p:sp>
      <p:sp>
        <p:nvSpPr>
          <p:cNvPr id="43" name="Oval 42"/>
          <p:cNvSpPr/>
          <p:nvPr/>
        </p:nvSpPr>
        <p:spPr>
          <a:xfrm>
            <a:off x="8458200" y="4736592"/>
            <a:ext cx="640080" cy="64008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check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017" y="4877409"/>
            <a:ext cx="358444" cy="35844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172200" y="5376672"/>
            <a:ext cx="5212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1">
                <a:solidFill>
                  <a:srgbClr val="9AA3B2"/>
                </a:solidFill>
                <a:latin typeface="Calibri"/>
              </a:rPr>
              <a:t>Paste screenshot here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623560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Shows: 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record edited, then deleted successfully</a:t>
            </a:r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Challenges Faced and Solutions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17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32918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2918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Solution adopted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48840"/>
            <a:ext cx="3337560" cy="82296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ar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32304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3040" y="2148840"/>
            <a:ext cx="26517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No labelled incident dataset to train a model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06240" y="2423160"/>
            <a:ext cx="274320" cy="27432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2148840"/>
            <a:ext cx="36576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45152" y="2148840"/>
            <a:ext cx="347472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Knowledge-based AI (rules, heuristics, constraints) that works on incident attributes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127248"/>
            <a:ext cx="3337560" cy="82296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331012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ar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410712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63040" y="3127248"/>
            <a:ext cx="26517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Analysts must trust and verify each decision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206240" y="3401568"/>
            <a:ext cx="274320" cy="27432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26280" y="3127248"/>
            <a:ext cx="36576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645152" y="3127248"/>
            <a:ext cx="347472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Forward chaining records every rule fired, giving a readable trace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105656"/>
            <a:ext cx="3337560" cy="82296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14400" y="4288536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war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4389120"/>
            <a:ext cx="256032" cy="256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3040" y="4105656"/>
            <a:ext cx="26517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Incident data spread across separate tools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206240" y="4379976"/>
            <a:ext cx="274320" cy="27432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26280" y="4105656"/>
            <a:ext cx="36576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645152" y="4105656"/>
            <a:ext cx="347472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One Spring Boot + MySQL backend with tested CRUD REST APIs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084064"/>
            <a:ext cx="3337560" cy="82296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14400" y="5266944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war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5367528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463040" y="5084064"/>
            <a:ext cx="26517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The incident store is itself an attack target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206240" y="5358384"/>
            <a:ext cx="274320" cy="27432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26280" y="5084064"/>
            <a:ext cx="36576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645152" y="5084064"/>
            <a:ext cx="347472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Threat model with validation, authentication, API security and logging controls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1810512"/>
            <a:ext cx="2971800" cy="4224528"/>
          </a:xfrm>
          <a:prstGeom prst="roundRect">
            <a:avLst>
              <a:gd name="adj" fmla="val 8000"/>
            </a:avLst>
          </a:prstGeom>
          <a:solidFill>
            <a:srgbClr val="FDF3E1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577072" y="1938528"/>
            <a:ext cx="548640" cy="548640"/>
          </a:xfrm>
          <a:prstGeom prst="ellipse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hourglas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7772" y="2059228"/>
            <a:ext cx="307238" cy="30723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217152" y="1938528"/>
            <a:ext cx="210312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1" i="0">
                <a:solidFill>
                  <a:srgbClr val="C77700"/>
                </a:solidFill>
                <a:latin typeface="Calibri"/>
              </a:rPr>
              <a:t>Remaining issues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7072" y="2651760"/>
            <a:ext cx="2697480" cy="3291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C777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Heuristic criteria and rule thresholds still to be fixed</a:t>
            </a:r>
          </a:p>
          <a:p>
            <a:pPr marL="228600" indent="-228600">
              <a:spcAft>
                <a:spcPts val="900"/>
              </a:spcAft>
              <a:buClr>
                <a:srgbClr val="C777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Dashboard not yet built</a:t>
            </a:r>
          </a:p>
          <a:p>
            <a:pPr marL="228600" indent="-228600">
              <a:spcAft>
                <a:spcPts val="900"/>
              </a:spcAft>
              <a:buClr>
                <a:srgbClr val="C777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No measured AI results yet</a:t>
            </a:r>
          </a:p>
          <a:p>
            <a:pPr marL="228600" indent="-228600">
              <a:spcAft>
                <a:spcPts val="900"/>
              </a:spcAft>
              <a:buClr>
                <a:srgbClr val="C777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Authentication and input validation to be added</a:t>
            </a:r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Work Plan Until Final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18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1056132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82312" y="1901952"/>
            <a:ext cx="773811" cy="310896"/>
          </a:xfrm>
          <a:prstGeom prst="roundRect">
            <a:avLst>
              <a:gd name="adj" fmla="val 3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10987" y="1901952"/>
            <a:ext cx="773811" cy="310896"/>
          </a:xfrm>
          <a:prstGeom prst="roundRect">
            <a:avLst>
              <a:gd name="adj" fmla="val 3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9662" y="1901952"/>
            <a:ext cx="773811" cy="310896"/>
          </a:xfrm>
          <a:prstGeom prst="roundRect">
            <a:avLst>
              <a:gd name="adj" fmla="val 3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8337" y="1901952"/>
            <a:ext cx="773811" cy="310896"/>
          </a:xfrm>
          <a:prstGeom prst="roundRect">
            <a:avLst>
              <a:gd name="adj" fmla="val 3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011" y="1901952"/>
            <a:ext cx="773811" cy="310896"/>
          </a:xfrm>
          <a:prstGeom prst="roundRect">
            <a:avLst>
              <a:gd name="adj" fmla="val 3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5686" y="1901952"/>
            <a:ext cx="773811" cy="310896"/>
          </a:xfrm>
          <a:prstGeom prst="roundRect">
            <a:avLst>
              <a:gd name="adj" fmla="val 3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54361" y="1901952"/>
            <a:ext cx="773811" cy="310896"/>
          </a:xfrm>
          <a:prstGeom prst="roundRect">
            <a:avLst>
              <a:gd name="adj" fmla="val 3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83036" y="1901952"/>
            <a:ext cx="773811" cy="310896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340864"/>
            <a:ext cx="10378440" cy="457200"/>
          </a:xfrm>
          <a:prstGeom prst="roundRect">
            <a:avLst>
              <a:gd name="adj" fmla="val 15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60120" y="2432304"/>
            <a:ext cx="274320" cy="27432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377440"/>
            <a:ext cx="347472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Rule base + forward-chaining engine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2935224"/>
            <a:ext cx="274320" cy="274320"/>
          </a:xfrm>
          <a:prstGeom prst="ellipse">
            <a:avLst/>
          </a:prstGeom>
          <a:solidFill>
            <a:srgbClr val="69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880360"/>
            <a:ext cx="347472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Heuristic priority + constraint-based response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346704"/>
            <a:ext cx="10378440" cy="457200"/>
          </a:xfrm>
          <a:prstGeom prst="roundRect">
            <a:avLst>
              <a:gd name="adj" fmla="val 15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60120" y="3438144"/>
            <a:ext cx="274320" cy="274320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383280"/>
            <a:ext cx="347472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Dashboard + REST API integration</a:t>
            </a:r>
          </a:p>
        </p:txBody>
      </p:sp>
      <p:sp>
        <p:nvSpPr>
          <p:cNvPr id="25" name="Oval 24"/>
          <p:cNvSpPr/>
          <p:nvPr/>
        </p:nvSpPr>
        <p:spPr>
          <a:xfrm>
            <a:off x="960120" y="3941063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886200"/>
            <a:ext cx="347472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Security hardening: validation, auth, API security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352544"/>
            <a:ext cx="10378440" cy="457200"/>
          </a:xfrm>
          <a:prstGeom prst="roundRect">
            <a:avLst>
              <a:gd name="adj" fmla="val 15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60120" y="4443984"/>
            <a:ext cx="274320" cy="274320"/>
          </a:xfrm>
          <a:prstGeom prst="ellipse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389120"/>
            <a:ext cx="347472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Scenario testing: brute force, port scan, DoS</a:t>
            </a:r>
          </a:p>
        </p:txBody>
      </p:sp>
      <p:sp>
        <p:nvSpPr>
          <p:cNvPr id="30" name="Oval 29"/>
          <p:cNvSpPr/>
          <p:nvPr/>
        </p:nvSpPr>
        <p:spPr>
          <a:xfrm>
            <a:off x="960120" y="4946903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892040"/>
            <a:ext cx="347472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Documentation, screenshots, final report, presentation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583555" y="2286000"/>
            <a:ext cx="0" cy="3108960"/>
          </a:xfrm>
          <a:prstGeom prst="line">
            <a:avLst/>
          </a:prstGeom>
          <a:ln w="9525">
            <a:solidFill>
              <a:srgbClr val="E1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412230" y="2286000"/>
            <a:ext cx="0" cy="3108960"/>
          </a:xfrm>
          <a:prstGeom prst="line">
            <a:avLst/>
          </a:prstGeom>
          <a:ln w="9525">
            <a:solidFill>
              <a:srgbClr val="E1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40904" y="2286000"/>
            <a:ext cx="0" cy="3108960"/>
          </a:xfrm>
          <a:prstGeom prst="line">
            <a:avLst/>
          </a:prstGeom>
          <a:ln w="9525">
            <a:solidFill>
              <a:srgbClr val="E1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069579" y="2286000"/>
            <a:ext cx="0" cy="3108960"/>
          </a:xfrm>
          <a:prstGeom prst="line">
            <a:avLst/>
          </a:prstGeom>
          <a:ln w="9525">
            <a:solidFill>
              <a:srgbClr val="E1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898255" y="2286000"/>
            <a:ext cx="0" cy="3108960"/>
          </a:xfrm>
          <a:prstGeom prst="line">
            <a:avLst/>
          </a:prstGeom>
          <a:ln w="9525">
            <a:solidFill>
              <a:srgbClr val="E1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726930" y="2286000"/>
            <a:ext cx="0" cy="3108960"/>
          </a:xfrm>
          <a:prstGeom prst="line">
            <a:avLst/>
          </a:prstGeom>
          <a:ln w="9525">
            <a:solidFill>
              <a:srgbClr val="E1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555605" y="2286000"/>
            <a:ext cx="0" cy="3108960"/>
          </a:xfrm>
          <a:prstGeom prst="line">
            <a:avLst/>
          </a:prstGeom>
          <a:ln w="9525">
            <a:solidFill>
              <a:srgbClr val="E1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800600" y="2441448"/>
            <a:ext cx="1565909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6457950" y="2944368"/>
            <a:ext cx="1565909" cy="274320"/>
          </a:xfrm>
          <a:prstGeom prst="roundRect">
            <a:avLst>
              <a:gd name="adj" fmla="val 50000"/>
            </a:avLst>
          </a:prstGeom>
          <a:solidFill>
            <a:srgbClr val="69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7286624" y="3447288"/>
            <a:ext cx="1565909" cy="274320"/>
          </a:xfrm>
          <a:prstGeom prst="roundRect">
            <a:avLst>
              <a:gd name="adj" fmla="val 50000"/>
            </a:avLst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8115300" y="3950208"/>
            <a:ext cx="1565909" cy="27432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8943975" y="4453128"/>
            <a:ext cx="1565909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9772650" y="4956048"/>
            <a:ext cx="1565909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822960" y="5596128"/>
            <a:ext cx="33832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Diamond 45"/>
          <p:cNvSpPr/>
          <p:nvPr/>
        </p:nvSpPr>
        <p:spPr>
          <a:xfrm>
            <a:off x="932688" y="5669280"/>
            <a:ext cx="310896" cy="310896"/>
          </a:xfrm>
          <a:prstGeom prst="diamond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25880" y="5596128"/>
            <a:ext cx="283464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Calibri"/>
              </a:rPr>
              <a:t>End of W4: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M2 + M3 ready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0" y="5596128"/>
            <a:ext cx="33832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Diamond 48"/>
          <p:cNvSpPr/>
          <p:nvPr/>
        </p:nvSpPr>
        <p:spPr>
          <a:xfrm>
            <a:off x="4498848" y="5669280"/>
            <a:ext cx="310896" cy="310896"/>
          </a:xfrm>
          <a:prstGeom prst="diamond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92040" y="5596128"/>
            <a:ext cx="283464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Calibri"/>
              </a:rPr>
              <a:t>End of W5: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Dashboard live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55279" y="5596128"/>
            <a:ext cx="33832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Diamond 51"/>
          <p:cNvSpPr/>
          <p:nvPr/>
        </p:nvSpPr>
        <p:spPr>
          <a:xfrm>
            <a:off x="8065007" y="5669280"/>
            <a:ext cx="310896" cy="310896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58200" y="5596128"/>
            <a:ext cx="283464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End of W8: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Final review</a:t>
            </a:r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19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87552" y="2066543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10512"/>
            <a:ext cx="964692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A. L. Buczak and E. Guven,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"A Survey of Data Mining and Machine Learning Methods for Cyber Security Intrusion Detection," </a:t>
            </a:r>
            <a:r>
              <a:rPr sz="1400" b="0" i="1">
                <a:solidFill>
                  <a:srgbClr val="002060"/>
                </a:solidFill>
                <a:latin typeface="Calibri"/>
              </a:rPr>
              <a:t>IEEE Communications Surveys &amp; Tutorials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, vol. 18, no. 2, pp. 1153-1176, 2016.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62072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87552" y="3118104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862072"/>
            <a:ext cx="964692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R. Sommer and V. Paxson,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"Outside the Closed World: On Using Machine Learning for Network Intrusion Detection," in </a:t>
            </a:r>
            <a:r>
              <a:rPr sz="1400" b="0" i="1">
                <a:solidFill>
                  <a:srgbClr val="002060"/>
                </a:solidFill>
                <a:latin typeface="Calibri"/>
              </a:rPr>
              <a:t>Proc. IEEE Symposium on Security and Privacy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, 2010, pp. 305-316.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13631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987552" y="4169663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913631"/>
            <a:ext cx="964692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A. Khraisat, I. Gondal, P. Vamplew and J. Kamruzzaman,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"Survey of Intrusion Detection Systems: Techniques, Datasets and Challenges," </a:t>
            </a:r>
            <a:r>
              <a:rPr sz="1400" b="0" i="1">
                <a:solidFill>
                  <a:srgbClr val="002060"/>
                </a:solidFill>
                <a:latin typeface="Calibri"/>
              </a:rPr>
              <a:t>Cybersecurity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, vol. 2, art. 20, 2019.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965192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87552" y="5221224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965192"/>
            <a:ext cx="964692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S. J. Russell and P. Norvig,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/>
            </a:r>
            <a:r>
              <a:rPr sz="1400" b="0" i="1">
                <a:solidFill>
                  <a:srgbClr val="002060"/>
                </a:solidFill>
                <a:latin typeface="Calibri"/>
              </a:rPr>
              <a:t>Artificial Intelligence: A Modern Approach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, 4th ed. Pearson, 2020.</a:t>
            </a:r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105613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 i="0">
                <a:solidFill>
                  <a:srgbClr val="002060"/>
                </a:solidFill>
                <a:latin typeface="Calibri"/>
              </a:rPr>
              <a:t>Questions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10561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 i="0">
                <a:solidFill>
                  <a:srgbClr val="5B6472"/>
                </a:solidFill>
                <a:latin typeface="Calibri"/>
              </a:rPr>
              <a:t>NILA ELA (241901074)   |   SREEDHARSHINI M (241901110)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9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10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746</Words>
  <Application>Microsoft Office PowerPoint</Application>
  <PresentationFormat>Widescreen</PresentationFormat>
  <Paragraphs>140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Calibri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Project Progress Since Review 1</vt:lpstr>
      <vt:lpstr>Literature Survey</vt:lpstr>
      <vt:lpstr>Literature Survey</vt:lpstr>
      <vt:lpstr> Research Gap and Project Response</vt:lpstr>
      <vt:lpstr>System Architecture / Proposed System</vt:lpstr>
      <vt:lpstr>DFD Diagram</vt:lpstr>
      <vt:lpstr>Methodology / Workflow Diagram</vt:lpstr>
      <vt:lpstr>Tools and Technologies</vt:lpstr>
      <vt:lpstr>List of Modules</vt:lpstr>
      <vt:lpstr>Module Implementation – Part 1</vt:lpstr>
      <vt:lpstr>Module Implementation – Part 2</vt:lpstr>
      <vt:lpstr>Preliminary Results and Discussion</vt:lpstr>
      <vt:lpstr>User Interface / Implementation Screenshots</vt:lpstr>
      <vt:lpstr>Challenges Faced and Solutions</vt:lpstr>
      <vt:lpstr>Work Plan Until Final Review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16</cp:revision>
  <dcterms:modified xsi:type="dcterms:W3CDTF">2026-10-13T06:01:55Z</dcterms:modified>
</cp:coreProperties>
</file>